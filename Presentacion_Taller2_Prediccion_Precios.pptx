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Voy a presentar el diseño de un algoritmo de aprendizaje profundo para predecir el precio de la vivienda, usando una red neuronal densa sobre el dataset California Housing. Es un ejemplo de referencia para la actividad de Aprendizaje Basado en Retos.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es cotidiano: saber si un precio es justo. Una mala estimación tiene consecuencias reales: pérdidas, créditos mal dados y, sobre todo, decisiones injustas. Como se ve en el mapa, el precio depende mucho de la ubicación, y eso será clave en el análisis ético.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es doble: diseñar una red neuronal que prediga el precio, y evaluar su ética. Usamos la estrategia de Aprendizaje Basado en Retos, una red densa por su capacidad de capturar relaciones no lineales, y el dataset California Housing con más de 20 mil registros.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Revisé literatura reciente, de los últimos cinco años, en tres ejes: los fundamentos del aprendizaje profundo, su aplicación a la valoración de vivienda, y la equidad algorítmica. Este último eje es el que sustenta el análisis ético del trabajo. En total, diez referencias, todas entre 2021 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dataset tiene 20.640 registros y 8 variables: ingreso, antigüedad, habitaciones, población, ocupación y ubicación. Lo dividimos en 70% entrenamiento, 15% validación y 15% prueba. Como muestra la matriz de correlación, el ingreso medio de la zona es la variable más asociada al precio.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tres capas ocultas de 128, 64 y 32 neuronas, con activación ReLU y Dropout para evitar sobreajuste. La salida es una sola neurona lineal, porque es regresión. Usamos el optimizador Adam, pérdida de error cuadrático medio, y parada temprana para no sobreentrenar. Cada decisión está justificada en la literatura.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Implementamos el modelo en Python con Keras, en Google Colab. Estandarizamos las variables usando solo el conjunto de entrenamiento, para no filtrar información. El entrenamiento se detuvo solo, cerca de la época 95, gracias a la parada temprana. La curva muestra una convergencia limpia, sin sobreajuste.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datos nunca vistos, el modelo explica el 82% de la variabilidad del precio, con un error promedio de unos 33 mil dólares. En la gráfica de predicciones contra valores reales, los puntos se agrupan en la diagonal ideal. La franja vertical de arriba es el tope de 500 mil dólares del censo, donde el modelo subestima.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viene lo importante. Medimos el error separando las zonas por nivel de ingreso. El modelo es MENOS preciso en las zonas de ingreso alto. Aunque hay una explicación técnica, la lección es que la calidad de la predicción no es uniforme entre grupos, y eso hay que vigilarlo.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cuánto pesa el barrio, entrenamos la misma red pero quitando latitud y longitud. El R² baja de 0,82 a 0,72: la ubicación aporta 10 puntos. Es un predictor potente, pero también un proxy del nivel socioeconómico. En un uso real, como aprobar créditos, esto podría convertirse en un redlining algorítmico, negando oportunidades a barrios enteros.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todo modelo, tiene límites: los datos son de 1990, trabajamos con grupos de manzanas y depende mucho de la ubicación. Las mejoras: usar datos actuales, auditar la equidad periódicamente, añadir explicabilidad con SHAP, y aplicar técnicas de mitigación de sesgos si se usa en decisiones importantes.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resumen: el modelo funciona, con un R² de 0,82. Pero el desempeño técnico no basta: hay que evaluar la ética. Y la ubicación es un arma de doble filo, mejora la predicción pero puede discriminar. La conclusión: el deep learning es poderoso, siempre que su uso sea responsable, con auditorías de equidad y transparencia.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esto termino. El detalle completo, incluidas las diez referencias de los últimos cinco años, está en el informe escrito. Muchas gracias, quedo atento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pic>
        <p:nvPicPr>
          <p:cNvPr id="2" name="Image 0" descr="C:\Users\Carlos\Downloads\2. Test\prediccion-precios-vivienda\kfiguras\logo.png">    </p:cNvPr>
          <p:cNvPicPr>
            <a:picLocks noChangeAspect="1"/>
          </p:cNvPicPr>
          <p:nvPr/>
        </p:nvPicPr>
        <p:blipFill>
          <a:blip r:embed="rId1"/>
          <a:stretch>
            <a:fillRect/>
          </a:stretch>
        </p:blipFill>
        <p:spPr>
          <a:xfrm>
            <a:off x="5623560" y="640080"/>
            <a:ext cx="914400" cy="914400"/>
          </a:xfrm>
          <a:prstGeom prst="rect">
            <a:avLst/>
          </a:prstGeom>
        </p:spPr>
      </p:pic>
      <p:sp>
        <p:nvSpPr>
          <p:cNvPr id="3" name="Text 0"/>
          <p:cNvSpPr/>
          <p:nvPr/>
        </p:nvSpPr>
        <p:spPr>
          <a:xfrm>
            <a:off x="457200" y="1691640"/>
            <a:ext cx="11247120" cy="365760"/>
          </a:xfrm>
          <a:prstGeom prst="rect">
            <a:avLst/>
          </a:prstGeom>
          <a:noFill/>
          <a:ln/>
        </p:spPr>
        <p:txBody>
          <a:bodyPr wrap="square" rtlCol="0" anchor="ctr"/>
          <a:lstStyle/>
          <a:p>
            <a:pPr algn="ctr" indent="0" marL="0">
              <a:buNone/>
            </a:pPr>
            <a:r>
              <a:rPr lang="en-US" sz="1500" b="1" spc="100" kern="0" dirty="0">
                <a:solidFill>
                  <a:srgbClr val="CADCFC"/>
                </a:solidFill>
                <a:latin typeface="Calibri" pitchFamily="34" charset="0"/>
                <a:ea typeface="Calibri" pitchFamily="34" charset="-122"/>
                <a:cs typeface="Calibri" pitchFamily="34" charset="-120"/>
              </a:rPr>
              <a:t>UNIVERSIDAD TECNOLÓGICA DEL ORIENTE</a:t>
            </a:r>
            <a:endParaRPr lang="en-US" sz="1500" dirty="0"/>
          </a:p>
        </p:txBody>
      </p:sp>
      <p:sp>
        <p:nvSpPr>
          <p:cNvPr id="4" name="Text 1"/>
          <p:cNvSpPr/>
          <p:nvPr/>
        </p:nvSpPr>
        <p:spPr>
          <a:xfrm>
            <a:off x="365760" y="2286000"/>
            <a:ext cx="11430000" cy="91440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Diseño de Algoritmos de Aprendizaje Profundo</a:t>
            </a:r>
            <a:endParaRPr lang="en-US" sz="3800" dirty="0"/>
          </a:p>
        </p:txBody>
      </p:sp>
      <p:sp>
        <p:nvSpPr>
          <p:cNvPr id="5" name="Text 2"/>
          <p:cNvSpPr/>
          <p:nvPr/>
        </p:nvSpPr>
        <p:spPr>
          <a:xfrm>
            <a:off x="457200" y="3310128"/>
            <a:ext cx="11247120" cy="548640"/>
          </a:xfrm>
          <a:prstGeom prst="rect">
            <a:avLst/>
          </a:prstGeom>
          <a:noFill/>
          <a:ln/>
        </p:spPr>
        <p:txBody>
          <a:bodyPr wrap="square" rtlCol="0" anchor="ctr"/>
          <a:lstStyle/>
          <a:p>
            <a:pPr algn="ctr" indent="0" marL="0">
              <a:buNone/>
            </a:pPr>
            <a:r>
              <a:rPr lang="en-US" sz="2000" i="1" dirty="0">
                <a:solidFill>
                  <a:srgbClr val="E8830C"/>
                </a:solidFill>
                <a:latin typeface="Calibri" pitchFamily="34" charset="0"/>
                <a:ea typeface="Calibri" pitchFamily="34" charset="-122"/>
                <a:cs typeface="Calibri" pitchFamily="34" charset="-120"/>
              </a:rPr>
              <a:t>Predicción de precios de vivienda con una red neuronal densa</a:t>
            </a:r>
            <a:endParaRPr lang="en-US" sz="2000" dirty="0"/>
          </a:p>
        </p:txBody>
      </p:sp>
      <p:sp>
        <p:nvSpPr>
          <p:cNvPr id="6" name="Text 3"/>
          <p:cNvSpPr/>
          <p:nvPr/>
        </p:nvSpPr>
        <p:spPr>
          <a:xfrm>
            <a:off x="457200" y="3886200"/>
            <a:ext cx="11247120" cy="365760"/>
          </a:xfrm>
          <a:prstGeom prst="rect">
            <a:avLst/>
          </a:prstGeom>
          <a:noFill/>
          <a:ln/>
        </p:spPr>
        <p:txBody>
          <a:bodyPr wrap="square"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Caso de estudio: dataset California Housing</a:t>
            </a:r>
            <a:endParaRPr lang="en-US" sz="1400" dirty="0"/>
          </a:p>
        </p:txBody>
      </p:sp>
      <p:sp>
        <p:nvSpPr>
          <p:cNvPr id="7" name="Text 4"/>
          <p:cNvSpPr/>
          <p:nvPr/>
        </p:nvSpPr>
        <p:spPr>
          <a:xfrm>
            <a:off x="457200" y="4892040"/>
            <a:ext cx="11247120" cy="73152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Ing. Carlos Carrascal</a:t>
            </a:r>
            <a:endParaRPr lang="en-US" sz="1700" dirty="0"/>
          </a:p>
          <a:p>
            <a:pPr algn="ctr" indent="0" marL="0">
              <a:buNone/>
            </a:pPr>
            <a:r>
              <a:rPr lang="en-US" sz="1250" i="1" dirty="0">
                <a:solidFill>
                  <a:srgbClr val="CADCFC"/>
                </a:solidFill>
                <a:latin typeface="Calibri" pitchFamily="34" charset="0"/>
                <a:ea typeface="Calibri" pitchFamily="34" charset="-122"/>
                <a:cs typeface="Calibri" pitchFamily="34" charset="-120"/>
              </a:rPr>
              <a:t>Docente · Inteligencia Artificial — Ingeniería de Software</a:t>
            </a:r>
            <a:endParaRPr lang="en-US" sz="1700" dirty="0"/>
          </a:p>
        </p:txBody>
      </p:sp>
      <p:sp>
        <p:nvSpPr>
          <p:cNvPr id="8" name="Text 5"/>
          <p:cNvSpPr/>
          <p:nvPr/>
        </p:nvSpPr>
        <p:spPr>
          <a:xfrm>
            <a:off x="457200" y="5989320"/>
            <a:ext cx="11247120" cy="320040"/>
          </a:xfrm>
          <a:prstGeom prst="rect">
            <a:avLst/>
          </a:prstGeom>
          <a:noFill/>
          <a:ln/>
        </p:spPr>
        <p:txBody>
          <a:bodyPr wrap="square" rtlCol="0" anchor="ctr"/>
          <a:lstStyle/>
          <a:p>
            <a:pPr algn="ctr" indent="0" marL="0">
              <a:buNone/>
            </a:pPr>
            <a:r>
              <a:rPr lang="en-US" sz="1200" dirty="0">
                <a:solidFill>
                  <a:srgbClr val="8894C0"/>
                </a:solidFill>
                <a:latin typeface="Calibri" pitchFamily="34" charset="0"/>
                <a:ea typeface="Calibri" pitchFamily="34" charset="-122"/>
                <a:cs typeface="Calibri" pitchFamily="34" charset="-120"/>
              </a:rPr>
              <a:t>18 de julio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182880"/>
            <a:ext cx="10972800" cy="320040"/>
          </a:xfrm>
          <a:prstGeom prst="rect">
            <a:avLst/>
          </a:prstGeom>
          <a:noFill/>
          <a:ln/>
        </p:spPr>
        <p:txBody>
          <a:bodyPr wrap="square" lIns="0" tIns="0" rIns="0" bIns="0" rtlCol="0" anchor="ctr"/>
          <a:lstStyle/>
          <a:p>
            <a:pPr indent="0" marL="0">
              <a:buNone/>
            </a:pPr>
            <a:r>
              <a:rPr lang="en-US" sz="1300" b="1" spc="200" kern="0" dirty="0">
                <a:solidFill>
                  <a:srgbClr val="E8830C"/>
                </a:solidFill>
                <a:latin typeface="Calibri" pitchFamily="34" charset="0"/>
                <a:ea typeface="Calibri" pitchFamily="34" charset="-122"/>
                <a:cs typeface="Calibri" pitchFamily="34" charset="-120"/>
              </a:rPr>
              <a:t>EL RETO</a:t>
            </a:r>
            <a:endParaRPr lang="en-US" sz="13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¿Es justo el precio de una vivienda?</a:t>
            </a:r>
            <a:endParaRPr lang="en-US" sz="3200" dirty="0"/>
          </a:p>
        </p:txBody>
      </p:sp>
      <p:pic>
        <p:nvPicPr>
          <p:cNvPr id="4" name="Image 0" descr="C:\Users\Carlos\Downloads\2. Test\prediccion-precios-vivienda\kfiguras\logo.png">    </p:cNvPr>
          <p:cNvPicPr>
            <a:picLocks noChangeAspect="1"/>
          </p:cNvPicPr>
          <p:nvPr/>
        </p:nvPicPr>
        <p:blipFill>
          <a:blip r:embed="rId1"/>
          <a:stretch>
            <a:fillRect/>
          </a:stretch>
        </p:blipFill>
        <p:spPr>
          <a:xfrm>
            <a:off x="11292840" y="256032"/>
            <a:ext cx="566928" cy="566928"/>
          </a:xfrm>
          <a:prstGeom prst="rect">
            <a:avLst/>
          </a:prstGeom>
        </p:spPr>
      </p:pic>
      <p:sp>
        <p:nvSpPr>
          <p:cNvPr id="5" name="Text 2"/>
          <p:cNvSpPr/>
          <p:nvPr/>
        </p:nvSpPr>
        <p:spPr>
          <a:xfrm>
            <a:off x="566928" y="1554480"/>
            <a:ext cx="5852160" cy="1463040"/>
          </a:xfrm>
          <a:prstGeom prst="rect">
            <a:avLst/>
          </a:prstGeom>
          <a:noFill/>
          <a:ln/>
        </p:spPr>
        <p:txBody>
          <a:bodyPr wrap="square" lIns="0" tIns="0" rIns="0" bIns="0" rtlCol="0" anchor="t"/>
          <a:lstStyle/>
          <a:p>
            <a:pPr indent="0" marL="0">
              <a:spcAft>
                <a:spcPts val="1000"/>
              </a:spcAft>
              <a:buNone/>
            </a:pPr>
            <a:r>
              <a:rPr lang="en-US" sz="1600" dirty="0">
                <a:solidFill>
                  <a:srgbClr val="222222"/>
                </a:solidFill>
                <a:latin typeface="Calibri" pitchFamily="34" charset="0"/>
                <a:ea typeface="Calibri" pitchFamily="34" charset="-122"/>
                <a:cs typeface="Calibri" pitchFamily="34" charset="-120"/>
              </a:rPr>
              <a:t>Compradores, vendedores y bancos necesitan estimar el valor de un inmueble a partir de sus características.</a:t>
            </a:r>
            <a:endParaRPr lang="en-US" sz="1600" dirty="0"/>
          </a:p>
          <a:p>
            <a:pPr indent="0" marL="0">
              <a:spcAft>
                <a:spcPts val="600"/>
              </a:spcAft>
              <a:buNone/>
            </a:pPr>
            <a:r>
              <a:rPr lang="en-US" sz="1600" b="1" dirty="0">
                <a:solidFill>
                  <a:srgbClr val="222222"/>
                </a:solidFill>
                <a:latin typeface="Calibri" pitchFamily="34" charset="0"/>
                <a:ea typeface="Calibri" pitchFamily="34" charset="-122"/>
                <a:cs typeface="Calibri" pitchFamily="34" charset="-120"/>
              </a:rPr>
              <a:t>Una valoración errónea genera:</a:t>
            </a:r>
            <a:endParaRPr lang="en-US" sz="1600" dirty="0"/>
          </a:p>
        </p:txBody>
      </p:sp>
      <p:sp>
        <p:nvSpPr>
          <p:cNvPr id="6" name="Shape 3"/>
          <p:cNvSpPr/>
          <p:nvPr/>
        </p:nvSpPr>
        <p:spPr>
          <a:xfrm>
            <a:off x="566928" y="2926080"/>
            <a:ext cx="384048" cy="384048"/>
          </a:xfrm>
          <a:prstGeom prst="roundRect">
            <a:avLst>
              <a:gd name="adj" fmla="val 19048"/>
            </a:avLst>
          </a:prstGeom>
          <a:solidFill>
            <a:srgbClr val="E8830C"/>
          </a:solidFill>
          <a:ln/>
        </p:spPr>
      </p:sp>
      <p:sp>
        <p:nvSpPr>
          <p:cNvPr id="7" name="Text 4"/>
          <p:cNvSpPr/>
          <p:nvPr/>
        </p:nvSpPr>
        <p:spPr>
          <a:xfrm>
            <a:off x="566928" y="292608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8" name="Text 5"/>
          <p:cNvSpPr/>
          <p:nvPr/>
        </p:nvSpPr>
        <p:spPr>
          <a:xfrm>
            <a:off x="1097280" y="2898648"/>
            <a:ext cx="512064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Pérdidas económicas  </a:t>
            </a:r>
            <a:pPr indent="0" marL="0">
              <a:buNone/>
            </a:pPr>
            <a:r>
              <a:rPr lang="en-US" sz="1500" dirty="0">
                <a:solidFill>
                  <a:srgbClr val="6A6F7A"/>
                </a:solidFill>
                <a:latin typeface="Calibri" pitchFamily="34" charset="0"/>
                <a:ea typeface="Calibri" pitchFamily="34" charset="-122"/>
                <a:cs typeface="Calibri" pitchFamily="34" charset="-120"/>
              </a:rPr>
              <a:t>— para familias y vendedores</a:t>
            </a:r>
            <a:endParaRPr lang="en-US" sz="1500" dirty="0"/>
          </a:p>
        </p:txBody>
      </p:sp>
      <p:sp>
        <p:nvSpPr>
          <p:cNvPr id="9" name="Shape 6"/>
          <p:cNvSpPr/>
          <p:nvPr/>
        </p:nvSpPr>
        <p:spPr>
          <a:xfrm>
            <a:off x="566928" y="3584448"/>
            <a:ext cx="384048" cy="384048"/>
          </a:xfrm>
          <a:prstGeom prst="roundRect">
            <a:avLst>
              <a:gd name="adj" fmla="val 19048"/>
            </a:avLst>
          </a:prstGeom>
          <a:solidFill>
            <a:srgbClr val="E8830C"/>
          </a:solidFill>
          <a:ln/>
        </p:spPr>
      </p:sp>
      <p:sp>
        <p:nvSpPr>
          <p:cNvPr id="10" name="Text 7"/>
          <p:cNvSpPr/>
          <p:nvPr/>
        </p:nvSpPr>
        <p:spPr>
          <a:xfrm>
            <a:off x="566928" y="358444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1" name="Text 8"/>
          <p:cNvSpPr/>
          <p:nvPr/>
        </p:nvSpPr>
        <p:spPr>
          <a:xfrm>
            <a:off x="1097280" y="3557016"/>
            <a:ext cx="512064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Créditos mal otorgados  </a:t>
            </a:r>
            <a:pPr indent="0" marL="0">
              <a:buNone/>
            </a:pPr>
            <a:r>
              <a:rPr lang="en-US" sz="1500" dirty="0">
                <a:solidFill>
                  <a:srgbClr val="6A6F7A"/>
                </a:solidFill>
                <a:latin typeface="Calibri" pitchFamily="34" charset="0"/>
                <a:ea typeface="Calibri" pitchFamily="34" charset="-122"/>
                <a:cs typeface="Calibri" pitchFamily="34" charset="-120"/>
              </a:rPr>
              <a:t>— riesgo para la banca</a:t>
            </a:r>
            <a:endParaRPr lang="en-US" sz="1500" dirty="0"/>
          </a:p>
        </p:txBody>
      </p:sp>
      <p:sp>
        <p:nvSpPr>
          <p:cNvPr id="12" name="Shape 9"/>
          <p:cNvSpPr/>
          <p:nvPr/>
        </p:nvSpPr>
        <p:spPr>
          <a:xfrm>
            <a:off x="566928" y="4242816"/>
            <a:ext cx="384048" cy="384048"/>
          </a:xfrm>
          <a:prstGeom prst="roundRect">
            <a:avLst>
              <a:gd name="adj" fmla="val 19048"/>
            </a:avLst>
          </a:prstGeom>
          <a:solidFill>
            <a:srgbClr val="E8830C"/>
          </a:solidFill>
          <a:ln/>
        </p:spPr>
      </p:sp>
      <p:sp>
        <p:nvSpPr>
          <p:cNvPr id="13" name="Text 10"/>
          <p:cNvSpPr/>
          <p:nvPr/>
        </p:nvSpPr>
        <p:spPr>
          <a:xfrm>
            <a:off x="566928" y="424281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4" name="Text 11"/>
          <p:cNvSpPr/>
          <p:nvPr/>
        </p:nvSpPr>
        <p:spPr>
          <a:xfrm>
            <a:off x="1097280" y="4215384"/>
            <a:ext cx="512064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Decisiones injustas  </a:t>
            </a:r>
            <a:pPr indent="0" marL="0">
              <a:buNone/>
            </a:pPr>
            <a:r>
              <a:rPr lang="en-US" sz="1500" dirty="0">
                <a:solidFill>
                  <a:srgbClr val="6A6F7A"/>
                </a:solidFill>
                <a:latin typeface="Calibri" pitchFamily="34" charset="0"/>
                <a:ea typeface="Calibri" pitchFamily="34" charset="-122"/>
                <a:cs typeface="Calibri" pitchFamily="34" charset="-120"/>
              </a:rPr>
              <a:t>— sesgos por zona o barrio</a:t>
            </a:r>
            <a:endParaRPr lang="en-US" sz="1500" dirty="0"/>
          </a:p>
        </p:txBody>
      </p:sp>
      <p:sp>
        <p:nvSpPr>
          <p:cNvPr id="15" name="Shape 12"/>
          <p:cNvSpPr/>
          <p:nvPr/>
        </p:nvSpPr>
        <p:spPr>
          <a:xfrm>
            <a:off x="6858000" y="1691640"/>
            <a:ext cx="4754880" cy="4023360"/>
          </a:xfrm>
          <a:prstGeom prst="roundRect">
            <a:avLst>
              <a:gd name="adj" fmla="val 3182"/>
            </a:avLst>
          </a:prstGeom>
          <a:solidFill>
            <a:srgbClr val="F4F6FA"/>
          </a:solidFill>
          <a:ln/>
        </p:spPr>
      </p:sp>
      <p:pic>
        <p:nvPicPr>
          <p:cNvPr id="16" name="Image 1" descr="C:\Users\Carlos\Downloads\2. Test\prediccion-precios-vivienda\figuras\fig3_mapa.png">    </p:cNvPr>
          <p:cNvPicPr>
            <a:picLocks noChangeAspect="1"/>
          </p:cNvPicPr>
          <p:nvPr/>
        </p:nvPicPr>
        <p:blipFill>
          <a:blip r:embed="rId2"/>
          <a:stretch>
            <a:fillRect/>
          </a:stretch>
        </p:blipFill>
        <p:spPr>
          <a:xfrm>
            <a:off x="7543800" y="1874520"/>
            <a:ext cx="2743200" cy="2057400"/>
          </a:xfrm>
          <a:prstGeom prst="rect">
            <a:avLst/>
          </a:prstGeom>
        </p:spPr>
      </p:pic>
      <p:sp>
        <p:nvSpPr>
          <p:cNvPr id="17" name="Text 13"/>
          <p:cNvSpPr/>
          <p:nvPr/>
        </p:nvSpPr>
        <p:spPr>
          <a:xfrm>
            <a:off x="7040880" y="4023360"/>
            <a:ext cx="4389120" cy="914400"/>
          </a:xfrm>
          <a:prstGeom prst="rect">
            <a:avLst/>
          </a:prstGeom>
          <a:noFill/>
          <a:ln/>
        </p:spPr>
        <p:txBody>
          <a:bodyPr wrap="square" rtlCol="0" anchor="t"/>
          <a:lstStyle/>
          <a:p>
            <a:pPr algn="ctr" indent="0" marL="0">
              <a:buNone/>
            </a:pPr>
            <a:r>
              <a:rPr lang="en-US" sz="1500" i="1" dirty="0">
                <a:solidFill>
                  <a:srgbClr val="1E2761"/>
                </a:solidFill>
                <a:latin typeface="Calibri" pitchFamily="34" charset="0"/>
                <a:ea typeface="Calibri" pitchFamily="34" charset="-122"/>
                <a:cs typeface="Calibri" pitchFamily="34" charset="-120"/>
              </a:rPr>
              <a:t>El precio depende fuertemente de DÓNDE está la vivienda</a:t>
            </a:r>
            <a:endParaRPr lang="en-US" sz="1500" dirty="0"/>
          </a:p>
        </p:txBody>
      </p:sp>
      <p:sp>
        <p:nvSpPr>
          <p:cNvPr id="18" name="Text 14"/>
          <p:cNvSpPr/>
          <p:nvPr/>
        </p:nvSpPr>
        <p:spPr>
          <a:xfrm>
            <a:off x="7040880" y="5212080"/>
            <a:ext cx="4389120" cy="274320"/>
          </a:xfrm>
          <a:prstGeom prst="rect">
            <a:avLst/>
          </a:prstGeom>
          <a:noFill/>
          <a:ln/>
        </p:spPr>
        <p:txBody>
          <a:bodyPr wrap="square" rtlCol="0" anchor="ctr"/>
          <a:lstStyle/>
          <a:p>
            <a:pPr algn="ctr" indent="0" marL="0">
              <a:buNone/>
            </a:pPr>
            <a:r>
              <a:rPr lang="en-US" sz="1100" dirty="0">
                <a:solidFill>
                  <a:srgbClr val="6A6F7A"/>
                </a:solidFill>
                <a:latin typeface="Calibri" pitchFamily="34" charset="0"/>
                <a:ea typeface="Calibri" pitchFamily="34" charset="-122"/>
                <a:cs typeface="Calibri" pitchFamily="34" charset="-120"/>
              </a:rPr>
              <a:t>California, 1990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182880"/>
            <a:ext cx="10972800" cy="320040"/>
          </a:xfrm>
          <a:prstGeom prst="rect">
            <a:avLst/>
          </a:prstGeom>
          <a:noFill/>
          <a:ln/>
        </p:spPr>
        <p:txBody>
          <a:bodyPr wrap="square" lIns="0" tIns="0" rIns="0" bIns="0" rtlCol="0" anchor="ctr"/>
          <a:lstStyle/>
          <a:p>
            <a:pPr indent="0" marL="0">
              <a:buNone/>
            </a:pPr>
            <a:r>
              <a:rPr lang="en-US" sz="1300" b="1" spc="200" kern="0" dirty="0">
                <a:solidFill>
                  <a:srgbClr val="E8830C"/>
                </a:solidFill>
                <a:latin typeface="Calibri" pitchFamily="34" charset="0"/>
                <a:ea typeface="Calibri" pitchFamily="34" charset="-122"/>
                <a:cs typeface="Calibri" pitchFamily="34" charset="-120"/>
              </a:rPr>
              <a:t>ENFOQUE</a:t>
            </a:r>
            <a:endParaRPr lang="en-US" sz="13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Objetivo y estrategia</a:t>
            </a:r>
            <a:endParaRPr lang="en-US" sz="3200" dirty="0"/>
          </a:p>
        </p:txBody>
      </p:sp>
      <p:pic>
        <p:nvPicPr>
          <p:cNvPr id="4" name="Image 0" descr="C:\Users\Carlos\Downloads\2. Test\prediccion-precios-vivienda\kfiguras\logo.png">    </p:cNvPr>
          <p:cNvPicPr>
            <a:picLocks noChangeAspect="1"/>
          </p:cNvPicPr>
          <p:nvPr/>
        </p:nvPicPr>
        <p:blipFill>
          <a:blip r:embed="rId1"/>
          <a:stretch>
            <a:fillRect/>
          </a:stretch>
        </p:blipFill>
        <p:spPr>
          <a:xfrm>
            <a:off x="11292840" y="256032"/>
            <a:ext cx="566928" cy="566928"/>
          </a:xfrm>
          <a:prstGeom prst="rect">
            <a:avLst/>
          </a:prstGeom>
        </p:spPr>
      </p:pic>
      <p:sp>
        <p:nvSpPr>
          <p:cNvPr id="5" name="Text 2"/>
          <p:cNvSpPr/>
          <p:nvPr/>
        </p:nvSpPr>
        <p:spPr>
          <a:xfrm>
            <a:off x="566928" y="1417320"/>
            <a:ext cx="10972800" cy="54864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Diseñar y evaluar una red neuronal profunda que estime el precio de la vivienda, y analizar su comportamiento ético.</a:t>
            </a:r>
            <a:endParaRPr lang="en-US" sz="1600" dirty="0"/>
          </a:p>
        </p:txBody>
      </p:sp>
      <p:sp>
        <p:nvSpPr>
          <p:cNvPr id="6" name="Shape 3"/>
          <p:cNvSpPr/>
          <p:nvPr/>
        </p:nvSpPr>
        <p:spPr>
          <a:xfrm>
            <a:off x="566928" y="2286000"/>
            <a:ext cx="3474720" cy="3200400"/>
          </a:xfrm>
          <a:prstGeom prst="roundRect">
            <a:avLst>
              <a:gd name="adj" fmla="val 3429"/>
            </a:avLst>
          </a:prstGeom>
          <a:solidFill>
            <a:srgbClr val="F4F6FA"/>
          </a:solidFill>
          <a:ln/>
        </p:spPr>
      </p:sp>
      <p:sp>
        <p:nvSpPr>
          <p:cNvPr id="7" name="Shape 4"/>
          <p:cNvSpPr/>
          <p:nvPr/>
        </p:nvSpPr>
        <p:spPr>
          <a:xfrm>
            <a:off x="886968" y="2606040"/>
            <a:ext cx="640080" cy="640080"/>
          </a:xfrm>
          <a:prstGeom prst="roundRect">
            <a:avLst>
              <a:gd name="adj" fmla="val 50000"/>
            </a:avLst>
          </a:prstGeom>
          <a:solidFill>
            <a:srgbClr val="E8830C"/>
          </a:solidFill>
          <a:ln/>
        </p:spPr>
      </p:sp>
      <p:sp>
        <p:nvSpPr>
          <p:cNvPr id="8" name="Text 5"/>
          <p:cNvSpPr/>
          <p:nvPr/>
        </p:nvSpPr>
        <p:spPr>
          <a:xfrm>
            <a:off x="886968" y="26060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9" name="Text 6"/>
          <p:cNvSpPr/>
          <p:nvPr/>
        </p:nvSpPr>
        <p:spPr>
          <a:xfrm>
            <a:off x="841248" y="3429000"/>
            <a:ext cx="2926080" cy="731520"/>
          </a:xfrm>
          <a:prstGeom prst="rect">
            <a:avLst/>
          </a:prstGeom>
          <a:noFill/>
          <a:ln/>
        </p:spPr>
        <p:txBody>
          <a:bodyPr wrap="square" lIns="0" tIns="0" rIns="0" bIns="0" rtlCol="0" anchor="t"/>
          <a:lstStyle/>
          <a:p>
            <a:pPr indent="0" marL="0">
              <a:buNone/>
            </a:pPr>
            <a:r>
              <a:rPr lang="en-US" sz="1800" b="1" dirty="0">
                <a:solidFill>
                  <a:srgbClr val="1E2761"/>
                </a:solidFill>
                <a:latin typeface="Cambria" pitchFamily="34" charset="0"/>
                <a:ea typeface="Cambria" pitchFamily="34" charset="-122"/>
                <a:cs typeface="Cambria" pitchFamily="34" charset="-120"/>
              </a:rPr>
              <a:t>Aprendizaje Basado en Retos</a:t>
            </a:r>
            <a:endParaRPr lang="en-US" sz="1800" dirty="0"/>
          </a:p>
        </p:txBody>
      </p:sp>
      <p:sp>
        <p:nvSpPr>
          <p:cNvPr id="10" name="Text 7"/>
          <p:cNvSpPr/>
          <p:nvPr/>
        </p:nvSpPr>
        <p:spPr>
          <a:xfrm>
            <a:off x="841248" y="4206240"/>
            <a:ext cx="2971800" cy="1188720"/>
          </a:xfrm>
          <a:prstGeom prst="rect">
            <a:avLst/>
          </a:prstGeom>
          <a:noFill/>
          <a:ln/>
        </p:spPr>
        <p:txBody>
          <a:bodyPr wrap="square" lIns="0" tIns="0" rIns="0" bIns="0" rtlCol="0" anchor="t"/>
          <a:lstStyle/>
          <a:p>
            <a:pPr indent="0" marL="0">
              <a:buNone/>
            </a:pPr>
            <a:r>
              <a:rPr lang="en-US" sz="1400" dirty="0">
                <a:solidFill>
                  <a:srgbClr val="6A6F7A"/>
                </a:solidFill>
                <a:latin typeface="Calibri" pitchFamily="34" charset="0"/>
                <a:ea typeface="Calibri" pitchFamily="34" charset="-122"/>
                <a:cs typeface="Calibri" pitchFamily="34" charset="-120"/>
              </a:rPr>
              <a:t>Partimos de un problema real y actual para diseñar la solución.</a:t>
            </a:r>
            <a:endParaRPr lang="en-US" sz="1400" dirty="0"/>
          </a:p>
        </p:txBody>
      </p:sp>
      <p:sp>
        <p:nvSpPr>
          <p:cNvPr id="11" name="Shape 8"/>
          <p:cNvSpPr/>
          <p:nvPr/>
        </p:nvSpPr>
        <p:spPr>
          <a:xfrm>
            <a:off x="4334256" y="2286000"/>
            <a:ext cx="3474720" cy="3200400"/>
          </a:xfrm>
          <a:prstGeom prst="roundRect">
            <a:avLst>
              <a:gd name="adj" fmla="val 3429"/>
            </a:avLst>
          </a:prstGeom>
          <a:solidFill>
            <a:srgbClr val="F4F6FA"/>
          </a:solidFill>
          <a:ln/>
        </p:spPr>
      </p:sp>
      <p:sp>
        <p:nvSpPr>
          <p:cNvPr id="12" name="Shape 9"/>
          <p:cNvSpPr/>
          <p:nvPr/>
        </p:nvSpPr>
        <p:spPr>
          <a:xfrm>
            <a:off x="4654296" y="2606040"/>
            <a:ext cx="640080" cy="640080"/>
          </a:xfrm>
          <a:prstGeom prst="roundRect">
            <a:avLst>
              <a:gd name="adj" fmla="val 50000"/>
            </a:avLst>
          </a:prstGeom>
          <a:solidFill>
            <a:srgbClr val="1E2761"/>
          </a:solidFill>
          <a:ln/>
        </p:spPr>
      </p:sp>
      <p:sp>
        <p:nvSpPr>
          <p:cNvPr id="13" name="Text 10"/>
          <p:cNvSpPr/>
          <p:nvPr/>
        </p:nvSpPr>
        <p:spPr>
          <a:xfrm>
            <a:off x="4654296" y="26060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Text 11"/>
          <p:cNvSpPr/>
          <p:nvPr/>
        </p:nvSpPr>
        <p:spPr>
          <a:xfrm>
            <a:off x="4608576" y="3429000"/>
            <a:ext cx="2926080" cy="731520"/>
          </a:xfrm>
          <a:prstGeom prst="rect">
            <a:avLst/>
          </a:prstGeom>
          <a:noFill/>
          <a:ln/>
        </p:spPr>
        <p:txBody>
          <a:bodyPr wrap="square" lIns="0" tIns="0" rIns="0" bIns="0" rtlCol="0" anchor="t"/>
          <a:lstStyle/>
          <a:p>
            <a:pPr indent="0" marL="0">
              <a:buNone/>
            </a:pPr>
            <a:r>
              <a:rPr lang="en-US" sz="1800" b="1" dirty="0">
                <a:solidFill>
                  <a:srgbClr val="1E2761"/>
                </a:solidFill>
                <a:latin typeface="Cambria" pitchFamily="34" charset="0"/>
                <a:ea typeface="Cambria" pitchFamily="34" charset="-122"/>
                <a:cs typeface="Cambria" pitchFamily="34" charset="-120"/>
              </a:rPr>
              <a:t>Red neuronal densa</a:t>
            </a:r>
            <a:endParaRPr lang="en-US" sz="1800" dirty="0"/>
          </a:p>
        </p:txBody>
      </p:sp>
      <p:sp>
        <p:nvSpPr>
          <p:cNvPr id="15" name="Text 12"/>
          <p:cNvSpPr/>
          <p:nvPr/>
        </p:nvSpPr>
        <p:spPr>
          <a:xfrm>
            <a:off x="4608576" y="4206240"/>
            <a:ext cx="2971800" cy="1188720"/>
          </a:xfrm>
          <a:prstGeom prst="rect">
            <a:avLst/>
          </a:prstGeom>
          <a:noFill/>
          <a:ln/>
        </p:spPr>
        <p:txBody>
          <a:bodyPr wrap="square" lIns="0" tIns="0" rIns="0" bIns="0" rtlCol="0" anchor="t"/>
          <a:lstStyle/>
          <a:p>
            <a:pPr indent="0" marL="0">
              <a:buNone/>
            </a:pPr>
            <a:r>
              <a:rPr lang="en-US" sz="1400" dirty="0">
                <a:solidFill>
                  <a:srgbClr val="6A6F7A"/>
                </a:solidFill>
                <a:latin typeface="Calibri" pitchFamily="34" charset="0"/>
                <a:ea typeface="Calibri" pitchFamily="34" charset="-122"/>
                <a:cs typeface="Calibri" pitchFamily="34" charset="-120"/>
              </a:rPr>
              <a:t>Perceptrón multicapa (regresión) capaz de modelar relaciones no lineales.</a:t>
            </a:r>
            <a:endParaRPr lang="en-US" sz="1400" dirty="0"/>
          </a:p>
        </p:txBody>
      </p:sp>
      <p:sp>
        <p:nvSpPr>
          <p:cNvPr id="16" name="Shape 13"/>
          <p:cNvSpPr/>
          <p:nvPr/>
        </p:nvSpPr>
        <p:spPr>
          <a:xfrm>
            <a:off x="8101584" y="2286000"/>
            <a:ext cx="3474720" cy="3200400"/>
          </a:xfrm>
          <a:prstGeom prst="roundRect">
            <a:avLst>
              <a:gd name="adj" fmla="val 3429"/>
            </a:avLst>
          </a:prstGeom>
          <a:solidFill>
            <a:srgbClr val="F4F6FA"/>
          </a:solidFill>
          <a:ln/>
        </p:spPr>
      </p:sp>
      <p:sp>
        <p:nvSpPr>
          <p:cNvPr id="17" name="Shape 14"/>
          <p:cNvSpPr/>
          <p:nvPr/>
        </p:nvSpPr>
        <p:spPr>
          <a:xfrm>
            <a:off x="8421624" y="2606040"/>
            <a:ext cx="640080" cy="640080"/>
          </a:xfrm>
          <a:prstGeom prst="roundRect">
            <a:avLst>
              <a:gd name="adj" fmla="val 50000"/>
            </a:avLst>
          </a:prstGeom>
          <a:solidFill>
            <a:srgbClr val="1E9E3A"/>
          </a:solidFill>
          <a:ln/>
        </p:spPr>
      </p:sp>
      <p:sp>
        <p:nvSpPr>
          <p:cNvPr id="18" name="Text 15"/>
          <p:cNvSpPr/>
          <p:nvPr/>
        </p:nvSpPr>
        <p:spPr>
          <a:xfrm>
            <a:off x="8421624" y="26060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9" name="Text 16"/>
          <p:cNvSpPr/>
          <p:nvPr/>
        </p:nvSpPr>
        <p:spPr>
          <a:xfrm>
            <a:off x="8375904" y="3429000"/>
            <a:ext cx="2926080" cy="731520"/>
          </a:xfrm>
          <a:prstGeom prst="rect">
            <a:avLst/>
          </a:prstGeom>
          <a:noFill/>
          <a:ln/>
        </p:spPr>
        <p:txBody>
          <a:bodyPr wrap="square" lIns="0" tIns="0" rIns="0" bIns="0" rtlCol="0" anchor="t"/>
          <a:lstStyle/>
          <a:p>
            <a:pPr indent="0" marL="0">
              <a:buNone/>
            </a:pPr>
            <a:r>
              <a:rPr lang="en-US" sz="1800" b="1" dirty="0">
                <a:solidFill>
                  <a:srgbClr val="1E2761"/>
                </a:solidFill>
                <a:latin typeface="Cambria" pitchFamily="34" charset="0"/>
                <a:ea typeface="Cambria" pitchFamily="34" charset="-122"/>
                <a:cs typeface="Cambria" pitchFamily="34" charset="-120"/>
              </a:rPr>
              <a:t>Datos + Ética</a:t>
            </a:r>
            <a:endParaRPr lang="en-US" sz="1800" dirty="0"/>
          </a:p>
        </p:txBody>
      </p:sp>
      <p:sp>
        <p:nvSpPr>
          <p:cNvPr id="20" name="Text 17"/>
          <p:cNvSpPr/>
          <p:nvPr/>
        </p:nvSpPr>
        <p:spPr>
          <a:xfrm>
            <a:off x="8375904" y="4206240"/>
            <a:ext cx="2971800" cy="1188720"/>
          </a:xfrm>
          <a:prstGeom prst="rect">
            <a:avLst/>
          </a:prstGeom>
          <a:noFill/>
          <a:ln/>
        </p:spPr>
        <p:txBody>
          <a:bodyPr wrap="square" lIns="0" tIns="0" rIns="0" bIns="0" rtlCol="0" anchor="t"/>
          <a:lstStyle/>
          <a:p>
            <a:pPr indent="0" marL="0">
              <a:buNone/>
            </a:pPr>
            <a:r>
              <a:rPr lang="en-US" sz="1400" dirty="0">
                <a:solidFill>
                  <a:srgbClr val="6A6F7A"/>
                </a:solidFill>
                <a:latin typeface="Calibri" pitchFamily="34" charset="0"/>
                <a:ea typeface="Calibri" pitchFamily="34" charset="-122"/>
                <a:cs typeface="Calibri" pitchFamily="34" charset="-120"/>
              </a:rPr>
              <a:t>California Housing (20.640 registros) con auditoría de equidad.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182880"/>
            <a:ext cx="10972800" cy="320040"/>
          </a:xfrm>
          <a:prstGeom prst="rect">
            <a:avLst/>
          </a:prstGeom>
          <a:noFill/>
          <a:ln/>
        </p:spPr>
        <p:txBody>
          <a:bodyPr wrap="square" lIns="0" tIns="0" rIns="0" bIns="0" rtlCol="0" anchor="ctr"/>
          <a:lstStyle/>
          <a:p>
            <a:pPr indent="0" marL="0">
              <a:buNone/>
            </a:pPr>
            <a:r>
              <a:rPr lang="en-US" sz="1300" b="1" spc="200" kern="0" dirty="0">
                <a:solidFill>
                  <a:srgbClr val="E8830C"/>
                </a:solidFill>
                <a:latin typeface="Calibri" pitchFamily="34" charset="0"/>
                <a:ea typeface="Calibri" pitchFamily="34" charset="-122"/>
                <a:cs typeface="Calibri" pitchFamily="34" charset="-120"/>
              </a:rPr>
              <a:t>ESTADO DEL ARTE (2021–2026)</a:t>
            </a:r>
            <a:endParaRPr lang="en-US" sz="13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Revisión bibliográfica</a:t>
            </a:r>
            <a:endParaRPr lang="en-US" sz="3200" dirty="0"/>
          </a:p>
        </p:txBody>
      </p:sp>
      <p:pic>
        <p:nvPicPr>
          <p:cNvPr id="4" name="Image 0" descr="C:\Users\Carlos\Downloads\2. Test\prediccion-precios-vivienda\kfiguras\logo.png">    </p:cNvPr>
          <p:cNvPicPr>
            <a:picLocks noChangeAspect="1"/>
          </p:cNvPicPr>
          <p:nvPr/>
        </p:nvPicPr>
        <p:blipFill>
          <a:blip r:embed="rId1"/>
          <a:stretch>
            <a:fillRect/>
          </a:stretch>
        </p:blipFill>
        <p:spPr>
          <a:xfrm>
            <a:off x="11292840" y="256032"/>
            <a:ext cx="566928" cy="566928"/>
          </a:xfrm>
          <a:prstGeom prst="rect">
            <a:avLst/>
          </a:prstGeom>
        </p:spPr>
      </p:pic>
      <p:sp>
        <p:nvSpPr>
          <p:cNvPr id="5" name="Shape 2"/>
          <p:cNvSpPr/>
          <p:nvPr/>
        </p:nvSpPr>
        <p:spPr>
          <a:xfrm>
            <a:off x="566928" y="1600200"/>
            <a:ext cx="3474720" cy="4160520"/>
          </a:xfrm>
          <a:prstGeom prst="roundRect">
            <a:avLst>
              <a:gd name="adj" fmla="val 3158"/>
            </a:avLst>
          </a:prstGeom>
          <a:solidFill>
            <a:srgbClr val="F4F6FA"/>
          </a:solidFill>
          <a:ln/>
        </p:spPr>
      </p:sp>
      <p:sp>
        <p:nvSpPr>
          <p:cNvPr id="6" name="Shape 3"/>
          <p:cNvSpPr/>
          <p:nvPr/>
        </p:nvSpPr>
        <p:spPr>
          <a:xfrm>
            <a:off x="566928" y="1600200"/>
            <a:ext cx="3474720" cy="777240"/>
          </a:xfrm>
          <a:prstGeom prst="roundRect">
            <a:avLst>
              <a:gd name="adj" fmla="val 14118"/>
            </a:avLst>
          </a:prstGeom>
          <a:solidFill>
            <a:srgbClr val="1E2761"/>
          </a:solidFill>
          <a:ln/>
        </p:spPr>
      </p:sp>
      <p:sp>
        <p:nvSpPr>
          <p:cNvPr id="7" name="Shape 4"/>
          <p:cNvSpPr/>
          <p:nvPr/>
        </p:nvSpPr>
        <p:spPr>
          <a:xfrm>
            <a:off x="566928" y="2103120"/>
            <a:ext cx="3474720" cy="274320"/>
          </a:xfrm>
          <a:prstGeom prst="rect">
            <a:avLst/>
          </a:prstGeom>
          <a:solidFill>
            <a:srgbClr val="1E2761"/>
          </a:solidFill>
          <a:ln/>
        </p:spPr>
      </p:sp>
      <p:sp>
        <p:nvSpPr>
          <p:cNvPr id="8" name="Text 5"/>
          <p:cNvSpPr/>
          <p:nvPr/>
        </p:nvSpPr>
        <p:spPr>
          <a:xfrm>
            <a:off x="749808" y="1600200"/>
            <a:ext cx="3108960" cy="7772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Fundamentos de deep learning</a:t>
            </a:r>
            <a:endParaRPr lang="en-US" sz="1550" dirty="0"/>
          </a:p>
        </p:txBody>
      </p:sp>
      <p:sp>
        <p:nvSpPr>
          <p:cNvPr id="9" name="Text 6"/>
          <p:cNvSpPr/>
          <p:nvPr/>
        </p:nvSpPr>
        <p:spPr>
          <a:xfrm>
            <a:off x="795528" y="2606040"/>
            <a:ext cx="3063240" cy="30175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Sarker (2021): taxonomía de técnicas.</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Janiesch et al. (2021): por qué las redes profundas capturan relaciones complejas.</a:t>
            </a:r>
            <a:endParaRPr lang="en-US" sz="1300" dirty="0"/>
          </a:p>
        </p:txBody>
      </p:sp>
      <p:sp>
        <p:nvSpPr>
          <p:cNvPr id="10" name="Shape 7"/>
          <p:cNvSpPr/>
          <p:nvPr/>
        </p:nvSpPr>
        <p:spPr>
          <a:xfrm>
            <a:off x="4334256" y="1600200"/>
            <a:ext cx="3474720" cy="4160520"/>
          </a:xfrm>
          <a:prstGeom prst="roundRect">
            <a:avLst>
              <a:gd name="adj" fmla="val 3158"/>
            </a:avLst>
          </a:prstGeom>
          <a:solidFill>
            <a:srgbClr val="F4F6FA"/>
          </a:solidFill>
          <a:ln/>
        </p:spPr>
      </p:sp>
      <p:sp>
        <p:nvSpPr>
          <p:cNvPr id="11" name="Shape 8"/>
          <p:cNvSpPr/>
          <p:nvPr/>
        </p:nvSpPr>
        <p:spPr>
          <a:xfrm>
            <a:off x="4334256" y="1600200"/>
            <a:ext cx="3474720" cy="777240"/>
          </a:xfrm>
          <a:prstGeom prst="roundRect">
            <a:avLst>
              <a:gd name="adj" fmla="val 14118"/>
            </a:avLst>
          </a:prstGeom>
          <a:solidFill>
            <a:srgbClr val="E8830C"/>
          </a:solidFill>
          <a:ln/>
        </p:spPr>
      </p:sp>
      <p:sp>
        <p:nvSpPr>
          <p:cNvPr id="12" name="Shape 9"/>
          <p:cNvSpPr/>
          <p:nvPr/>
        </p:nvSpPr>
        <p:spPr>
          <a:xfrm>
            <a:off x="4334256" y="2103120"/>
            <a:ext cx="3474720" cy="274320"/>
          </a:xfrm>
          <a:prstGeom prst="rect">
            <a:avLst/>
          </a:prstGeom>
          <a:solidFill>
            <a:srgbClr val="E8830C"/>
          </a:solidFill>
          <a:ln/>
        </p:spPr>
      </p:sp>
      <p:sp>
        <p:nvSpPr>
          <p:cNvPr id="13" name="Text 10"/>
          <p:cNvSpPr/>
          <p:nvPr/>
        </p:nvSpPr>
        <p:spPr>
          <a:xfrm>
            <a:off x="4517136" y="1600200"/>
            <a:ext cx="3108960" cy="7772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Valoración de vivienda</a:t>
            </a:r>
            <a:endParaRPr lang="en-US" sz="1550" dirty="0"/>
          </a:p>
        </p:txBody>
      </p:sp>
      <p:sp>
        <p:nvSpPr>
          <p:cNvPr id="14" name="Text 11"/>
          <p:cNvSpPr/>
          <p:nvPr/>
        </p:nvSpPr>
        <p:spPr>
          <a:xfrm>
            <a:off x="4562856" y="2606040"/>
            <a:ext cx="3063240" cy="30175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Hasan et al. (2024): enfoque multimodal.</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Zhang et al. (2024): grafos temporales.</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Wang et al. (2025): red + optimización.</a:t>
            </a:r>
            <a:endParaRPr lang="en-US" sz="1300" dirty="0"/>
          </a:p>
        </p:txBody>
      </p:sp>
      <p:sp>
        <p:nvSpPr>
          <p:cNvPr id="15" name="Shape 12"/>
          <p:cNvSpPr/>
          <p:nvPr/>
        </p:nvSpPr>
        <p:spPr>
          <a:xfrm>
            <a:off x="8101584" y="1600200"/>
            <a:ext cx="3474720" cy="4160520"/>
          </a:xfrm>
          <a:prstGeom prst="roundRect">
            <a:avLst>
              <a:gd name="adj" fmla="val 3158"/>
            </a:avLst>
          </a:prstGeom>
          <a:solidFill>
            <a:srgbClr val="F4F6FA"/>
          </a:solidFill>
          <a:ln/>
        </p:spPr>
      </p:sp>
      <p:sp>
        <p:nvSpPr>
          <p:cNvPr id="16" name="Shape 13"/>
          <p:cNvSpPr/>
          <p:nvPr/>
        </p:nvSpPr>
        <p:spPr>
          <a:xfrm>
            <a:off x="8101584" y="1600200"/>
            <a:ext cx="3474720" cy="777240"/>
          </a:xfrm>
          <a:prstGeom prst="roundRect">
            <a:avLst>
              <a:gd name="adj" fmla="val 14118"/>
            </a:avLst>
          </a:prstGeom>
          <a:solidFill>
            <a:srgbClr val="1E9E3A"/>
          </a:solidFill>
          <a:ln/>
        </p:spPr>
      </p:sp>
      <p:sp>
        <p:nvSpPr>
          <p:cNvPr id="17" name="Shape 14"/>
          <p:cNvSpPr/>
          <p:nvPr/>
        </p:nvSpPr>
        <p:spPr>
          <a:xfrm>
            <a:off x="8101584" y="2103120"/>
            <a:ext cx="3474720" cy="274320"/>
          </a:xfrm>
          <a:prstGeom prst="rect">
            <a:avLst/>
          </a:prstGeom>
          <a:solidFill>
            <a:srgbClr val="1E9E3A"/>
          </a:solidFill>
          <a:ln/>
        </p:spPr>
      </p:sp>
      <p:sp>
        <p:nvSpPr>
          <p:cNvPr id="18" name="Text 15"/>
          <p:cNvSpPr/>
          <p:nvPr/>
        </p:nvSpPr>
        <p:spPr>
          <a:xfrm>
            <a:off x="8284464" y="1600200"/>
            <a:ext cx="3108960" cy="7772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Equidad algorítmica</a:t>
            </a:r>
            <a:endParaRPr lang="en-US" sz="1550" dirty="0"/>
          </a:p>
        </p:txBody>
      </p:sp>
      <p:sp>
        <p:nvSpPr>
          <p:cNvPr id="19" name="Text 16"/>
          <p:cNvSpPr/>
          <p:nvPr/>
        </p:nvSpPr>
        <p:spPr>
          <a:xfrm>
            <a:off x="8330184" y="2606040"/>
            <a:ext cx="3063240" cy="30175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Mehrabi et al. (2021) y Pessach &amp; Shmueli (2022): sesgos y variables 'proxy'.</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Fabris et al. (2022): datos y equidad.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182880"/>
            <a:ext cx="10972800" cy="320040"/>
          </a:xfrm>
          <a:prstGeom prst="rect">
            <a:avLst/>
          </a:prstGeom>
          <a:noFill/>
          <a:ln/>
        </p:spPr>
        <p:txBody>
          <a:bodyPr wrap="square" lIns="0" tIns="0" rIns="0" bIns="0" rtlCol="0" anchor="ctr"/>
          <a:lstStyle/>
          <a:p>
            <a:pPr indent="0" marL="0">
              <a:buNone/>
            </a:pPr>
            <a:r>
              <a:rPr lang="en-US" sz="1300" b="1" spc="200" kern="0" dirty="0">
                <a:solidFill>
                  <a:srgbClr val="E8830C"/>
                </a:solidFill>
                <a:latin typeface="Calibri" pitchFamily="34" charset="0"/>
                <a:ea typeface="Calibri" pitchFamily="34" charset="-122"/>
                <a:cs typeface="Calibri" pitchFamily="34" charset="-120"/>
              </a:rPr>
              <a:t>LOS DATOS</a:t>
            </a:r>
            <a:endParaRPr lang="en-US" sz="13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Dataset California Housing</a:t>
            </a:r>
            <a:endParaRPr lang="en-US" sz="3200" dirty="0"/>
          </a:p>
        </p:txBody>
      </p:sp>
      <p:pic>
        <p:nvPicPr>
          <p:cNvPr id="4" name="Image 0" descr="C:\Users\Carlos\Downloads\2. Test\prediccion-precios-vivienda\kfiguras\logo.png">    </p:cNvPr>
          <p:cNvPicPr>
            <a:picLocks noChangeAspect="1"/>
          </p:cNvPicPr>
          <p:nvPr/>
        </p:nvPicPr>
        <p:blipFill>
          <a:blip r:embed="rId1"/>
          <a:stretch>
            <a:fillRect/>
          </a:stretch>
        </p:blipFill>
        <p:spPr>
          <a:xfrm>
            <a:off x="11292840" y="256032"/>
            <a:ext cx="566928" cy="566928"/>
          </a:xfrm>
          <a:prstGeom prst="rect">
            <a:avLst/>
          </a:prstGeom>
        </p:spPr>
      </p:pic>
      <p:sp>
        <p:nvSpPr>
          <p:cNvPr id="5" name="Shape 2"/>
          <p:cNvSpPr/>
          <p:nvPr/>
        </p:nvSpPr>
        <p:spPr>
          <a:xfrm>
            <a:off x="566928" y="1645920"/>
            <a:ext cx="4572000" cy="1143000"/>
          </a:xfrm>
          <a:prstGeom prst="roundRect">
            <a:avLst>
              <a:gd name="adj" fmla="val 9600"/>
            </a:avLst>
          </a:prstGeom>
          <a:solidFill>
            <a:srgbClr val="F4F6FA"/>
          </a:solidFill>
          <a:ln/>
        </p:spPr>
      </p:sp>
      <p:sp>
        <p:nvSpPr>
          <p:cNvPr id="6" name="Text 3"/>
          <p:cNvSpPr/>
          <p:nvPr/>
        </p:nvSpPr>
        <p:spPr>
          <a:xfrm>
            <a:off x="731520" y="1737360"/>
            <a:ext cx="2194560" cy="960120"/>
          </a:xfrm>
          <a:prstGeom prst="rect">
            <a:avLst/>
          </a:prstGeom>
          <a:noFill/>
          <a:ln/>
        </p:spPr>
        <p:txBody>
          <a:bodyPr wrap="square" lIns="0" tIns="0" rIns="0" bIns="0" rtlCol="0" anchor="ctr"/>
          <a:lstStyle/>
          <a:p>
            <a:pPr algn="l" indent="0" marL="0">
              <a:buNone/>
            </a:pPr>
            <a:r>
              <a:rPr lang="en-US" sz="4000" b="1" dirty="0">
                <a:solidFill>
                  <a:srgbClr val="1E2761"/>
                </a:solidFill>
                <a:latin typeface="Cambria" pitchFamily="34" charset="0"/>
                <a:ea typeface="Cambria" pitchFamily="34" charset="-122"/>
                <a:cs typeface="Cambria" pitchFamily="34" charset="-120"/>
              </a:rPr>
              <a:t>20.640</a:t>
            </a:r>
            <a:endParaRPr lang="en-US" sz="4000" dirty="0"/>
          </a:p>
        </p:txBody>
      </p:sp>
      <p:sp>
        <p:nvSpPr>
          <p:cNvPr id="7" name="Text 4"/>
          <p:cNvSpPr/>
          <p:nvPr/>
        </p:nvSpPr>
        <p:spPr>
          <a:xfrm>
            <a:off x="2834640" y="1737360"/>
            <a:ext cx="2194560" cy="960120"/>
          </a:xfrm>
          <a:prstGeom prst="rect">
            <a:avLst/>
          </a:prstGeom>
          <a:noFill/>
          <a:ln/>
        </p:spPr>
        <p:txBody>
          <a:bodyPr wrap="square" lIns="0" tIns="0" rIns="0" bIns="0" rtlCol="0" anchor="ctr"/>
          <a:lstStyle/>
          <a:p>
            <a:pPr algn="l" indent="0" marL="0">
              <a:buNone/>
            </a:pPr>
            <a:r>
              <a:rPr lang="en-US" sz="1600" dirty="0">
                <a:solidFill>
                  <a:srgbClr val="6A6F7A"/>
                </a:solidFill>
                <a:latin typeface="Calibri" pitchFamily="34" charset="0"/>
                <a:ea typeface="Calibri" pitchFamily="34" charset="-122"/>
                <a:cs typeface="Calibri" pitchFamily="34" charset="-120"/>
              </a:rPr>
              <a:t>registros</a:t>
            </a:r>
            <a:endParaRPr lang="en-US" sz="1600" dirty="0"/>
          </a:p>
        </p:txBody>
      </p:sp>
      <p:sp>
        <p:nvSpPr>
          <p:cNvPr id="8" name="Shape 5"/>
          <p:cNvSpPr/>
          <p:nvPr/>
        </p:nvSpPr>
        <p:spPr>
          <a:xfrm>
            <a:off x="566928" y="2971800"/>
            <a:ext cx="4572000" cy="1143000"/>
          </a:xfrm>
          <a:prstGeom prst="roundRect">
            <a:avLst>
              <a:gd name="adj" fmla="val 9600"/>
            </a:avLst>
          </a:prstGeom>
          <a:solidFill>
            <a:srgbClr val="F4F6FA"/>
          </a:solidFill>
          <a:ln/>
        </p:spPr>
      </p:sp>
      <p:sp>
        <p:nvSpPr>
          <p:cNvPr id="9" name="Text 6"/>
          <p:cNvSpPr/>
          <p:nvPr/>
        </p:nvSpPr>
        <p:spPr>
          <a:xfrm>
            <a:off x="731520" y="3063240"/>
            <a:ext cx="2194560" cy="960120"/>
          </a:xfrm>
          <a:prstGeom prst="rect">
            <a:avLst/>
          </a:prstGeom>
          <a:noFill/>
          <a:ln/>
        </p:spPr>
        <p:txBody>
          <a:bodyPr wrap="square" lIns="0" tIns="0" rIns="0" bIns="0" rtlCol="0" anchor="ctr"/>
          <a:lstStyle/>
          <a:p>
            <a:pPr algn="l" indent="0" marL="0">
              <a:buNone/>
            </a:pPr>
            <a:r>
              <a:rPr lang="en-US" sz="4000" b="1" dirty="0">
                <a:solidFill>
                  <a:srgbClr val="1E2761"/>
                </a:solidFill>
                <a:latin typeface="Cambria" pitchFamily="34" charset="0"/>
                <a:ea typeface="Cambria" pitchFamily="34" charset="-122"/>
                <a:cs typeface="Cambria" pitchFamily="34" charset="-120"/>
              </a:rPr>
              <a:t>8</a:t>
            </a:r>
            <a:endParaRPr lang="en-US" sz="4000" dirty="0"/>
          </a:p>
        </p:txBody>
      </p:sp>
      <p:sp>
        <p:nvSpPr>
          <p:cNvPr id="10" name="Text 7"/>
          <p:cNvSpPr/>
          <p:nvPr/>
        </p:nvSpPr>
        <p:spPr>
          <a:xfrm>
            <a:off x="2834640" y="3063240"/>
            <a:ext cx="2194560" cy="960120"/>
          </a:xfrm>
          <a:prstGeom prst="rect">
            <a:avLst/>
          </a:prstGeom>
          <a:noFill/>
          <a:ln/>
        </p:spPr>
        <p:txBody>
          <a:bodyPr wrap="square" lIns="0" tIns="0" rIns="0" bIns="0" rtlCol="0" anchor="ctr"/>
          <a:lstStyle/>
          <a:p>
            <a:pPr algn="l" indent="0" marL="0">
              <a:buNone/>
            </a:pPr>
            <a:r>
              <a:rPr lang="en-US" sz="1600" dirty="0">
                <a:solidFill>
                  <a:srgbClr val="6A6F7A"/>
                </a:solidFill>
                <a:latin typeface="Calibri" pitchFamily="34" charset="0"/>
                <a:ea typeface="Calibri" pitchFamily="34" charset="-122"/>
                <a:cs typeface="Calibri" pitchFamily="34" charset="-120"/>
              </a:rPr>
              <a:t>variables</a:t>
            </a:r>
            <a:endParaRPr lang="en-US" sz="1600" dirty="0"/>
          </a:p>
        </p:txBody>
      </p:sp>
      <p:sp>
        <p:nvSpPr>
          <p:cNvPr id="11" name="Shape 8"/>
          <p:cNvSpPr/>
          <p:nvPr/>
        </p:nvSpPr>
        <p:spPr>
          <a:xfrm>
            <a:off x="566928" y="4297680"/>
            <a:ext cx="4572000" cy="1143000"/>
          </a:xfrm>
          <a:prstGeom prst="roundRect">
            <a:avLst>
              <a:gd name="adj" fmla="val 9600"/>
            </a:avLst>
          </a:prstGeom>
          <a:solidFill>
            <a:srgbClr val="F4F6FA"/>
          </a:solidFill>
          <a:ln/>
        </p:spPr>
      </p:sp>
      <p:sp>
        <p:nvSpPr>
          <p:cNvPr id="12" name="Text 9"/>
          <p:cNvSpPr/>
          <p:nvPr/>
        </p:nvSpPr>
        <p:spPr>
          <a:xfrm>
            <a:off x="731520" y="4389120"/>
            <a:ext cx="2194560" cy="960120"/>
          </a:xfrm>
          <a:prstGeom prst="rect">
            <a:avLst/>
          </a:prstGeom>
          <a:noFill/>
          <a:ln/>
        </p:spPr>
        <p:txBody>
          <a:bodyPr wrap="square" lIns="0" tIns="0" rIns="0" bIns="0" rtlCol="0" anchor="ctr"/>
          <a:lstStyle/>
          <a:p>
            <a:pPr algn="l" indent="0" marL="0">
              <a:buNone/>
            </a:pPr>
            <a:r>
              <a:rPr lang="en-US" sz="4000" b="1" dirty="0">
                <a:solidFill>
                  <a:srgbClr val="1E2761"/>
                </a:solidFill>
                <a:latin typeface="Cambria" pitchFamily="34" charset="0"/>
                <a:ea typeface="Cambria" pitchFamily="34" charset="-122"/>
                <a:cs typeface="Cambria" pitchFamily="34" charset="-120"/>
              </a:rPr>
              <a:t>70/15/15</a:t>
            </a:r>
            <a:endParaRPr lang="en-US" sz="4000" dirty="0"/>
          </a:p>
        </p:txBody>
      </p:sp>
      <p:sp>
        <p:nvSpPr>
          <p:cNvPr id="13" name="Text 10"/>
          <p:cNvSpPr/>
          <p:nvPr/>
        </p:nvSpPr>
        <p:spPr>
          <a:xfrm>
            <a:off x="2834640" y="4389120"/>
            <a:ext cx="2194560" cy="960120"/>
          </a:xfrm>
          <a:prstGeom prst="rect">
            <a:avLst/>
          </a:prstGeom>
          <a:noFill/>
          <a:ln/>
        </p:spPr>
        <p:txBody>
          <a:bodyPr wrap="square" lIns="0" tIns="0" rIns="0" bIns="0" rtlCol="0" anchor="ctr"/>
          <a:lstStyle/>
          <a:p>
            <a:pPr algn="l" indent="0" marL="0">
              <a:buNone/>
            </a:pPr>
            <a:r>
              <a:rPr lang="en-US" sz="1600" dirty="0">
                <a:solidFill>
                  <a:srgbClr val="6A6F7A"/>
                </a:solidFill>
                <a:latin typeface="Calibri" pitchFamily="34" charset="0"/>
                <a:ea typeface="Calibri" pitchFamily="34" charset="-122"/>
                <a:cs typeface="Calibri" pitchFamily="34" charset="-120"/>
              </a:rPr>
              <a:t>train/val/test</a:t>
            </a:r>
            <a:endParaRPr lang="en-US" sz="1600" dirty="0"/>
          </a:p>
        </p:txBody>
      </p:sp>
      <p:sp>
        <p:nvSpPr>
          <p:cNvPr id="14" name="Text 11"/>
          <p:cNvSpPr/>
          <p:nvPr/>
        </p:nvSpPr>
        <p:spPr>
          <a:xfrm>
            <a:off x="566928" y="5669280"/>
            <a:ext cx="4572000" cy="822960"/>
          </a:xfrm>
          <a:prstGeom prst="rect">
            <a:avLst/>
          </a:prstGeom>
          <a:noFill/>
          <a:ln/>
        </p:spPr>
        <p:txBody>
          <a:bodyPr wrap="square" lIns="0" tIns="0" rIns="0" bIns="0" rtlCol="0" anchor="t"/>
          <a:lstStyle/>
          <a:p>
            <a:pPr indent="0" marL="0">
              <a:buNone/>
            </a:pPr>
            <a:r>
              <a:rPr lang="en-US" sz="1300" i="1" dirty="0">
                <a:solidFill>
                  <a:srgbClr val="6A6F7A"/>
                </a:solidFill>
                <a:latin typeface="Calibri" pitchFamily="34" charset="0"/>
                <a:ea typeface="Calibri" pitchFamily="34" charset="-122"/>
                <a:cs typeface="Calibri" pitchFamily="34" charset="-120"/>
              </a:rPr>
              <a:t>Variable objetivo: valor medio de la vivienda (×100.000 USD). Predictor más fuerte: el ingreso medio de la zona (MedInc).</a:t>
            </a:r>
            <a:endParaRPr lang="en-US" sz="1300" dirty="0"/>
          </a:p>
        </p:txBody>
      </p:sp>
      <p:pic>
        <p:nvPicPr>
          <p:cNvPr id="15" name="Image 1" descr="C:\Users\Carlos\Downloads\2. Test\prediccion-precios-vivienda\figuras\fig2_correlacion.png">    </p:cNvPr>
          <p:cNvPicPr>
            <a:picLocks noChangeAspect="1"/>
          </p:cNvPicPr>
          <p:nvPr/>
        </p:nvPicPr>
        <p:blipFill>
          <a:blip r:embed="rId2"/>
          <a:stretch>
            <a:fillRect/>
          </a:stretch>
        </p:blipFill>
        <p:spPr>
          <a:xfrm>
            <a:off x="5806440" y="1600200"/>
            <a:ext cx="4937760" cy="4014216"/>
          </a:xfrm>
          <a:prstGeom prst="rect">
            <a:avLst/>
          </a:prstGeom>
        </p:spPr>
      </p:pic>
      <p:sp>
        <p:nvSpPr>
          <p:cNvPr id="16" name="Text 12"/>
          <p:cNvSpPr/>
          <p:nvPr/>
        </p:nvSpPr>
        <p:spPr>
          <a:xfrm>
            <a:off x="5806440" y="5623560"/>
            <a:ext cx="4937760" cy="320040"/>
          </a:xfrm>
          <a:prstGeom prst="rect">
            <a:avLst/>
          </a:prstGeom>
          <a:noFill/>
          <a:ln/>
        </p:spPr>
        <p:txBody>
          <a:bodyPr wrap="square" rtlCol="0" anchor="ctr"/>
          <a:lstStyle/>
          <a:p>
            <a:pPr algn="ctr" indent="0" marL="0">
              <a:buNone/>
            </a:pPr>
            <a:r>
              <a:rPr lang="en-US" sz="1200" i="1" dirty="0">
                <a:solidFill>
                  <a:srgbClr val="6A6F7A"/>
                </a:solidFill>
                <a:latin typeface="Calibri" pitchFamily="34" charset="0"/>
                <a:ea typeface="Calibri" pitchFamily="34" charset="-122"/>
                <a:cs typeface="Calibri" pitchFamily="34" charset="-120"/>
              </a:rPr>
              <a:t>Matriz de correlación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182880"/>
            <a:ext cx="10972800" cy="320040"/>
          </a:xfrm>
          <a:prstGeom prst="rect">
            <a:avLst/>
          </a:prstGeom>
          <a:noFill/>
          <a:ln/>
        </p:spPr>
        <p:txBody>
          <a:bodyPr wrap="square" lIns="0" tIns="0" rIns="0" bIns="0" rtlCol="0" anchor="ctr"/>
          <a:lstStyle/>
          <a:p>
            <a:pPr indent="0" marL="0">
              <a:buNone/>
            </a:pPr>
            <a:r>
              <a:rPr lang="en-US" sz="1300" b="1" spc="200" kern="0" dirty="0">
                <a:solidFill>
                  <a:srgbClr val="E8830C"/>
                </a:solidFill>
                <a:latin typeface="Calibri" pitchFamily="34" charset="0"/>
                <a:ea typeface="Calibri" pitchFamily="34" charset="-122"/>
                <a:cs typeface="Calibri" pitchFamily="34" charset="-120"/>
              </a:rPr>
              <a:t>DISEÑO</a:t>
            </a:r>
            <a:endParaRPr lang="en-US" sz="13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Arquitectura de la red neuronal densa</a:t>
            </a:r>
            <a:endParaRPr lang="en-US" sz="3200" dirty="0"/>
          </a:p>
        </p:txBody>
      </p:sp>
      <p:pic>
        <p:nvPicPr>
          <p:cNvPr id="4" name="Image 0" descr="C:\Users\Carlos\Downloads\2. Test\prediccion-precios-vivienda\kfiguras\logo.png">    </p:cNvPr>
          <p:cNvPicPr>
            <a:picLocks noChangeAspect="1"/>
          </p:cNvPicPr>
          <p:nvPr/>
        </p:nvPicPr>
        <p:blipFill>
          <a:blip r:embed="rId1"/>
          <a:stretch>
            <a:fillRect/>
          </a:stretch>
        </p:blipFill>
        <p:spPr>
          <a:xfrm>
            <a:off x="11292840" y="256032"/>
            <a:ext cx="566928" cy="566928"/>
          </a:xfrm>
          <a:prstGeom prst="rect">
            <a:avLst/>
          </a:prstGeom>
        </p:spPr>
      </p:pic>
      <p:sp>
        <p:nvSpPr>
          <p:cNvPr id="5" name="Shape 2"/>
          <p:cNvSpPr/>
          <p:nvPr/>
        </p:nvSpPr>
        <p:spPr>
          <a:xfrm>
            <a:off x="822960" y="2514600"/>
            <a:ext cx="1554480" cy="1188720"/>
          </a:xfrm>
          <a:prstGeom prst="roundRect">
            <a:avLst>
              <a:gd name="adj" fmla="val 7692"/>
            </a:avLst>
          </a:prstGeom>
          <a:solidFill>
            <a:srgbClr val="6A6F7A"/>
          </a:solidFill>
          <a:ln w="12700">
            <a:solidFill>
              <a:srgbClr val="FFFFFF"/>
            </a:solidFill>
            <a:prstDash val="solid"/>
          </a:ln>
        </p:spPr>
      </p:sp>
      <p:sp>
        <p:nvSpPr>
          <p:cNvPr id="6" name="Text 3"/>
          <p:cNvSpPr/>
          <p:nvPr/>
        </p:nvSpPr>
        <p:spPr>
          <a:xfrm>
            <a:off x="822960" y="2514600"/>
            <a:ext cx="1554480" cy="11887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8</a:t>
            </a:r>
            <a:endParaRPr lang="en-US" sz="2200" dirty="0"/>
          </a:p>
        </p:txBody>
      </p:sp>
      <p:sp>
        <p:nvSpPr>
          <p:cNvPr id="7" name="Text 4"/>
          <p:cNvSpPr/>
          <p:nvPr/>
        </p:nvSpPr>
        <p:spPr>
          <a:xfrm>
            <a:off x="822960" y="4297680"/>
            <a:ext cx="1554480" cy="365760"/>
          </a:xfrm>
          <a:prstGeom prst="rect">
            <a:avLst/>
          </a:prstGeom>
          <a:noFill/>
          <a:ln/>
        </p:spPr>
        <p:txBody>
          <a:bodyPr wrap="square" lIns="0" tIns="0" rIns="0" bIns="0" rtlCol="0" anchor="ctr"/>
          <a:lstStyle/>
          <a:p>
            <a:pPr algn="ctr" indent="0" marL="0">
              <a:buNone/>
            </a:pPr>
            <a:r>
              <a:rPr lang="en-US" sz="1300" b="1" dirty="0">
                <a:solidFill>
                  <a:srgbClr val="222222"/>
                </a:solidFill>
                <a:latin typeface="Calibri" pitchFamily="34" charset="0"/>
                <a:ea typeface="Calibri" pitchFamily="34" charset="-122"/>
                <a:cs typeface="Calibri" pitchFamily="34" charset="-120"/>
              </a:rPr>
              <a:t>Entrada</a:t>
            </a:r>
            <a:endParaRPr lang="en-US" sz="1300" dirty="0"/>
          </a:p>
        </p:txBody>
      </p:sp>
      <p:sp>
        <p:nvSpPr>
          <p:cNvPr id="8" name="Shape 5"/>
          <p:cNvSpPr/>
          <p:nvPr/>
        </p:nvSpPr>
        <p:spPr>
          <a:xfrm>
            <a:off x="2432304" y="2971800"/>
            <a:ext cx="530352" cy="274320"/>
          </a:xfrm>
          <a:prstGeom prst="rightArrow">
            <a:avLst/>
          </a:prstGeom>
          <a:solidFill>
            <a:srgbClr val="B9C0D4"/>
          </a:solidFill>
          <a:ln/>
        </p:spPr>
      </p:sp>
      <p:sp>
        <p:nvSpPr>
          <p:cNvPr id="9" name="Shape 6"/>
          <p:cNvSpPr/>
          <p:nvPr/>
        </p:nvSpPr>
        <p:spPr>
          <a:xfrm>
            <a:off x="3017520" y="1965960"/>
            <a:ext cx="1554480" cy="2286000"/>
          </a:xfrm>
          <a:prstGeom prst="roundRect">
            <a:avLst>
              <a:gd name="adj" fmla="val 5882"/>
            </a:avLst>
          </a:prstGeom>
          <a:solidFill>
            <a:srgbClr val="1E2761"/>
          </a:solidFill>
          <a:ln w="12700">
            <a:solidFill>
              <a:srgbClr val="FFFFFF"/>
            </a:solidFill>
            <a:prstDash val="solid"/>
          </a:ln>
        </p:spPr>
      </p:sp>
      <p:sp>
        <p:nvSpPr>
          <p:cNvPr id="10" name="Text 7"/>
          <p:cNvSpPr/>
          <p:nvPr/>
        </p:nvSpPr>
        <p:spPr>
          <a:xfrm>
            <a:off x="3017520" y="1965960"/>
            <a:ext cx="1554480" cy="22860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128</a:t>
            </a:r>
            <a:endParaRPr lang="en-US" sz="2200" dirty="0"/>
          </a:p>
        </p:txBody>
      </p:sp>
      <p:sp>
        <p:nvSpPr>
          <p:cNvPr id="11" name="Text 8"/>
          <p:cNvSpPr/>
          <p:nvPr/>
        </p:nvSpPr>
        <p:spPr>
          <a:xfrm>
            <a:off x="3017520" y="4297680"/>
            <a:ext cx="1554480" cy="365760"/>
          </a:xfrm>
          <a:prstGeom prst="rect">
            <a:avLst/>
          </a:prstGeom>
          <a:noFill/>
          <a:ln/>
        </p:spPr>
        <p:txBody>
          <a:bodyPr wrap="square" lIns="0" tIns="0" rIns="0" bIns="0" rtlCol="0" anchor="ctr"/>
          <a:lstStyle/>
          <a:p>
            <a:pPr algn="ctr" indent="0" marL="0">
              <a:buNone/>
            </a:pPr>
            <a:r>
              <a:rPr lang="en-US" sz="1300" b="1" dirty="0">
                <a:solidFill>
                  <a:srgbClr val="222222"/>
                </a:solidFill>
                <a:latin typeface="Calibri" pitchFamily="34" charset="0"/>
                <a:ea typeface="Calibri" pitchFamily="34" charset="-122"/>
                <a:cs typeface="Calibri" pitchFamily="34" charset="-120"/>
              </a:rPr>
              <a:t>Densa</a:t>
            </a:r>
            <a:endParaRPr lang="en-US" sz="1300" dirty="0"/>
          </a:p>
        </p:txBody>
      </p:sp>
      <p:sp>
        <p:nvSpPr>
          <p:cNvPr id="12" name="Shape 9"/>
          <p:cNvSpPr/>
          <p:nvPr/>
        </p:nvSpPr>
        <p:spPr>
          <a:xfrm>
            <a:off x="4626864" y="2971800"/>
            <a:ext cx="530352" cy="274320"/>
          </a:xfrm>
          <a:prstGeom prst="rightArrow">
            <a:avLst/>
          </a:prstGeom>
          <a:solidFill>
            <a:srgbClr val="B9C0D4"/>
          </a:solidFill>
          <a:ln/>
        </p:spPr>
      </p:sp>
      <p:sp>
        <p:nvSpPr>
          <p:cNvPr id="13" name="Shape 10"/>
          <p:cNvSpPr/>
          <p:nvPr/>
        </p:nvSpPr>
        <p:spPr>
          <a:xfrm>
            <a:off x="5212080" y="2194560"/>
            <a:ext cx="1554480" cy="1828800"/>
          </a:xfrm>
          <a:prstGeom prst="roundRect">
            <a:avLst>
              <a:gd name="adj" fmla="val 5882"/>
            </a:avLst>
          </a:prstGeom>
          <a:solidFill>
            <a:srgbClr val="1E2761"/>
          </a:solidFill>
          <a:ln w="12700">
            <a:solidFill>
              <a:srgbClr val="FFFFFF"/>
            </a:solidFill>
            <a:prstDash val="solid"/>
          </a:ln>
        </p:spPr>
      </p:sp>
      <p:sp>
        <p:nvSpPr>
          <p:cNvPr id="14" name="Text 11"/>
          <p:cNvSpPr/>
          <p:nvPr/>
        </p:nvSpPr>
        <p:spPr>
          <a:xfrm>
            <a:off x="5212080" y="2194560"/>
            <a:ext cx="1554480" cy="1828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64</a:t>
            </a:r>
            <a:endParaRPr lang="en-US" sz="2200" dirty="0"/>
          </a:p>
        </p:txBody>
      </p:sp>
      <p:sp>
        <p:nvSpPr>
          <p:cNvPr id="15" name="Text 12"/>
          <p:cNvSpPr/>
          <p:nvPr/>
        </p:nvSpPr>
        <p:spPr>
          <a:xfrm>
            <a:off x="5212080" y="4297680"/>
            <a:ext cx="1554480" cy="365760"/>
          </a:xfrm>
          <a:prstGeom prst="rect">
            <a:avLst/>
          </a:prstGeom>
          <a:noFill/>
          <a:ln/>
        </p:spPr>
        <p:txBody>
          <a:bodyPr wrap="square" lIns="0" tIns="0" rIns="0" bIns="0" rtlCol="0" anchor="ctr"/>
          <a:lstStyle/>
          <a:p>
            <a:pPr algn="ctr" indent="0" marL="0">
              <a:buNone/>
            </a:pPr>
            <a:r>
              <a:rPr lang="en-US" sz="1300" b="1" dirty="0">
                <a:solidFill>
                  <a:srgbClr val="222222"/>
                </a:solidFill>
                <a:latin typeface="Calibri" pitchFamily="34" charset="0"/>
                <a:ea typeface="Calibri" pitchFamily="34" charset="-122"/>
                <a:cs typeface="Calibri" pitchFamily="34" charset="-120"/>
              </a:rPr>
              <a:t>Densa</a:t>
            </a:r>
            <a:endParaRPr lang="en-US" sz="1300" dirty="0"/>
          </a:p>
        </p:txBody>
      </p:sp>
      <p:sp>
        <p:nvSpPr>
          <p:cNvPr id="16" name="Shape 13"/>
          <p:cNvSpPr/>
          <p:nvPr/>
        </p:nvSpPr>
        <p:spPr>
          <a:xfrm>
            <a:off x="6821424" y="2971800"/>
            <a:ext cx="530352" cy="274320"/>
          </a:xfrm>
          <a:prstGeom prst="rightArrow">
            <a:avLst/>
          </a:prstGeom>
          <a:solidFill>
            <a:srgbClr val="B9C0D4"/>
          </a:solidFill>
          <a:ln/>
        </p:spPr>
      </p:sp>
      <p:sp>
        <p:nvSpPr>
          <p:cNvPr id="17" name="Shape 14"/>
          <p:cNvSpPr/>
          <p:nvPr/>
        </p:nvSpPr>
        <p:spPr>
          <a:xfrm>
            <a:off x="7406640" y="2377440"/>
            <a:ext cx="1554480" cy="1463040"/>
          </a:xfrm>
          <a:prstGeom prst="roundRect">
            <a:avLst>
              <a:gd name="adj" fmla="val 6250"/>
            </a:avLst>
          </a:prstGeom>
          <a:solidFill>
            <a:srgbClr val="1E2761"/>
          </a:solidFill>
          <a:ln w="12700">
            <a:solidFill>
              <a:srgbClr val="FFFFFF"/>
            </a:solidFill>
            <a:prstDash val="solid"/>
          </a:ln>
        </p:spPr>
      </p:sp>
      <p:sp>
        <p:nvSpPr>
          <p:cNvPr id="18" name="Text 15"/>
          <p:cNvSpPr/>
          <p:nvPr/>
        </p:nvSpPr>
        <p:spPr>
          <a:xfrm>
            <a:off x="7406640" y="2377440"/>
            <a:ext cx="1554480" cy="14630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32</a:t>
            </a:r>
            <a:endParaRPr lang="en-US" sz="2200" dirty="0"/>
          </a:p>
        </p:txBody>
      </p:sp>
      <p:sp>
        <p:nvSpPr>
          <p:cNvPr id="19" name="Text 16"/>
          <p:cNvSpPr/>
          <p:nvPr/>
        </p:nvSpPr>
        <p:spPr>
          <a:xfrm>
            <a:off x="7406640" y="4297680"/>
            <a:ext cx="1554480" cy="365760"/>
          </a:xfrm>
          <a:prstGeom prst="rect">
            <a:avLst/>
          </a:prstGeom>
          <a:noFill/>
          <a:ln/>
        </p:spPr>
        <p:txBody>
          <a:bodyPr wrap="square" lIns="0" tIns="0" rIns="0" bIns="0" rtlCol="0" anchor="ctr"/>
          <a:lstStyle/>
          <a:p>
            <a:pPr algn="ctr" indent="0" marL="0">
              <a:buNone/>
            </a:pPr>
            <a:r>
              <a:rPr lang="en-US" sz="1300" b="1" dirty="0">
                <a:solidFill>
                  <a:srgbClr val="222222"/>
                </a:solidFill>
                <a:latin typeface="Calibri" pitchFamily="34" charset="0"/>
                <a:ea typeface="Calibri" pitchFamily="34" charset="-122"/>
                <a:cs typeface="Calibri" pitchFamily="34" charset="-120"/>
              </a:rPr>
              <a:t>Densa</a:t>
            </a:r>
            <a:endParaRPr lang="en-US" sz="1300" dirty="0"/>
          </a:p>
        </p:txBody>
      </p:sp>
      <p:sp>
        <p:nvSpPr>
          <p:cNvPr id="20" name="Shape 17"/>
          <p:cNvSpPr/>
          <p:nvPr/>
        </p:nvSpPr>
        <p:spPr>
          <a:xfrm>
            <a:off x="9015984" y="2971800"/>
            <a:ext cx="530352" cy="274320"/>
          </a:xfrm>
          <a:prstGeom prst="rightArrow">
            <a:avLst/>
          </a:prstGeom>
          <a:solidFill>
            <a:srgbClr val="B9C0D4"/>
          </a:solidFill>
          <a:ln/>
        </p:spPr>
      </p:sp>
      <p:sp>
        <p:nvSpPr>
          <p:cNvPr id="21" name="Shape 18"/>
          <p:cNvSpPr/>
          <p:nvPr/>
        </p:nvSpPr>
        <p:spPr>
          <a:xfrm>
            <a:off x="9601200" y="2514600"/>
            <a:ext cx="1554480" cy="1188720"/>
          </a:xfrm>
          <a:prstGeom prst="roundRect">
            <a:avLst>
              <a:gd name="adj" fmla="val 7692"/>
            </a:avLst>
          </a:prstGeom>
          <a:solidFill>
            <a:srgbClr val="E8830C"/>
          </a:solidFill>
          <a:ln w="12700">
            <a:solidFill>
              <a:srgbClr val="FFFFFF"/>
            </a:solidFill>
            <a:prstDash val="solid"/>
          </a:ln>
        </p:spPr>
      </p:sp>
      <p:sp>
        <p:nvSpPr>
          <p:cNvPr id="22" name="Text 19"/>
          <p:cNvSpPr/>
          <p:nvPr/>
        </p:nvSpPr>
        <p:spPr>
          <a:xfrm>
            <a:off x="9601200" y="2514600"/>
            <a:ext cx="1554480" cy="11887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23" name="Text 20"/>
          <p:cNvSpPr/>
          <p:nvPr/>
        </p:nvSpPr>
        <p:spPr>
          <a:xfrm>
            <a:off x="9601200" y="4297680"/>
            <a:ext cx="1554480" cy="365760"/>
          </a:xfrm>
          <a:prstGeom prst="rect">
            <a:avLst/>
          </a:prstGeom>
          <a:noFill/>
          <a:ln/>
        </p:spPr>
        <p:txBody>
          <a:bodyPr wrap="square" lIns="0" tIns="0" rIns="0" bIns="0" rtlCol="0" anchor="ctr"/>
          <a:lstStyle/>
          <a:p>
            <a:pPr algn="ctr" indent="0" marL="0">
              <a:buNone/>
            </a:pPr>
            <a:r>
              <a:rPr lang="en-US" sz="1300" b="1" dirty="0">
                <a:solidFill>
                  <a:srgbClr val="222222"/>
                </a:solidFill>
                <a:latin typeface="Calibri" pitchFamily="34" charset="0"/>
                <a:ea typeface="Calibri" pitchFamily="34" charset="-122"/>
                <a:cs typeface="Calibri" pitchFamily="34" charset="-120"/>
              </a:rPr>
              <a:t>Salida</a:t>
            </a:r>
            <a:endParaRPr lang="en-US" sz="1300" dirty="0"/>
          </a:p>
        </p:txBody>
      </p:sp>
      <p:sp>
        <p:nvSpPr>
          <p:cNvPr id="24" name="Text 21"/>
          <p:cNvSpPr/>
          <p:nvPr/>
        </p:nvSpPr>
        <p:spPr>
          <a:xfrm>
            <a:off x="822960" y="1417320"/>
            <a:ext cx="10332720" cy="365760"/>
          </a:xfrm>
          <a:prstGeom prst="rect">
            <a:avLst/>
          </a:prstGeom>
          <a:noFill/>
          <a:ln/>
        </p:spPr>
        <p:txBody>
          <a:bodyPr wrap="square" rtlCol="0" anchor="ctr"/>
          <a:lstStyle/>
          <a:p>
            <a:pPr algn="ctr" indent="0" marL="0">
              <a:buNone/>
            </a:pPr>
            <a:r>
              <a:rPr lang="en-US" sz="1400" i="1" dirty="0">
                <a:solidFill>
                  <a:srgbClr val="6A6F7A"/>
                </a:solidFill>
                <a:latin typeface="Calibri" pitchFamily="34" charset="0"/>
                <a:ea typeface="Calibri" pitchFamily="34" charset="-122"/>
                <a:cs typeface="Calibri" pitchFamily="34" charset="-120"/>
              </a:rPr>
              <a:t>ReLU · Dropout 0,2</a:t>
            </a:r>
            <a:endParaRPr lang="en-US" sz="1400" dirty="0"/>
          </a:p>
        </p:txBody>
      </p:sp>
      <p:sp>
        <p:nvSpPr>
          <p:cNvPr id="25" name="Shape 22"/>
          <p:cNvSpPr/>
          <p:nvPr/>
        </p:nvSpPr>
        <p:spPr>
          <a:xfrm>
            <a:off x="822960" y="5074920"/>
            <a:ext cx="2514600" cy="640080"/>
          </a:xfrm>
          <a:prstGeom prst="roundRect">
            <a:avLst>
              <a:gd name="adj" fmla="val 50000"/>
            </a:avLst>
          </a:prstGeom>
          <a:solidFill>
            <a:srgbClr val="F4F6FA"/>
          </a:solidFill>
          <a:ln/>
        </p:spPr>
      </p:sp>
      <p:sp>
        <p:nvSpPr>
          <p:cNvPr id="26" name="Text 23"/>
          <p:cNvSpPr/>
          <p:nvPr/>
        </p:nvSpPr>
        <p:spPr>
          <a:xfrm>
            <a:off x="914400" y="5074920"/>
            <a:ext cx="2331720" cy="64008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Optimizador: Adam (lr 0,001)</a:t>
            </a:r>
            <a:endParaRPr lang="en-US" sz="1250" dirty="0"/>
          </a:p>
        </p:txBody>
      </p:sp>
      <p:sp>
        <p:nvSpPr>
          <p:cNvPr id="27" name="Shape 24"/>
          <p:cNvSpPr/>
          <p:nvPr/>
        </p:nvSpPr>
        <p:spPr>
          <a:xfrm>
            <a:off x="3520440" y="5074920"/>
            <a:ext cx="2514600" cy="640080"/>
          </a:xfrm>
          <a:prstGeom prst="roundRect">
            <a:avLst>
              <a:gd name="adj" fmla="val 50000"/>
            </a:avLst>
          </a:prstGeom>
          <a:solidFill>
            <a:srgbClr val="F4F6FA"/>
          </a:solidFill>
          <a:ln/>
        </p:spPr>
      </p:sp>
      <p:sp>
        <p:nvSpPr>
          <p:cNvPr id="28" name="Text 25"/>
          <p:cNvSpPr/>
          <p:nvPr/>
        </p:nvSpPr>
        <p:spPr>
          <a:xfrm>
            <a:off x="3611880" y="5074920"/>
            <a:ext cx="2331720" cy="64008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Pérdida: MSE</a:t>
            </a:r>
            <a:endParaRPr lang="en-US" sz="1250" dirty="0"/>
          </a:p>
        </p:txBody>
      </p:sp>
      <p:sp>
        <p:nvSpPr>
          <p:cNvPr id="29" name="Shape 26"/>
          <p:cNvSpPr/>
          <p:nvPr/>
        </p:nvSpPr>
        <p:spPr>
          <a:xfrm>
            <a:off x="6217920" y="5074920"/>
            <a:ext cx="2514600" cy="640080"/>
          </a:xfrm>
          <a:prstGeom prst="roundRect">
            <a:avLst>
              <a:gd name="adj" fmla="val 50000"/>
            </a:avLst>
          </a:prstGeom>
          <a:solidFill>
            <a:srgbClr val="F4F6FA"/>
          </a:solidFill>
          <a:ln/>
        </p:spPr>
      </p:sp>
      <p:sp>
        <p:nvSpPr>
          <p:cNvPr id="30" name="Text 27"/>
          <p:cNvSpPr/>
          <p:nvPr/>
        </p:nvSpPr>
        <p:spPr>
          <a:xfrm>
            <a:off x="6309360" y="5074920"/>
            <a:ext cx="2331720" cy="64008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Métrica: MAE</a:t>
            </a:r>
            <a:endParaRPr lang="en-US" sz="1250" dirty="0"/>
          </a:p>
        </p:txBody>
      </p:sp>
      <p:sp>
        <p:nvSpPr>
          <p:cNvPr id="31" name="Shape 28"/>
          <p:cNvSpPr/>
          <p:nvPr/>
        </p:nvSpPr>
        <p:spPr>
          <a:xfrm>
            <a:off x="8915400" y="5074920"/>
            <a:ext cx="2514600" cy="640080"/>
          </a:xfrm>
          <a:prstGeom prst="roundRect">
            <a:avLst>
              <a:gd name="adj" fmla="val 50000"/>
            </a:avLst>
          </a:prstGeom>
          <a:solidFill>
            <a:srgbClr val="F4F6FA"/>
          </a:solidFill>
          <a:ln/>
        </p:spPr>
      </p:sp>
      <p:sp>
        <p:nvSpPr>
          <p:cNvPr id="32" name="Text 29"/>
          <p:cNvSpPr/>
          <p:nvPr/>
        </p:nvSpPr>
        <p:spPr>
          <a:xfrm>
            <a:off x="9006840" y="5074920"/>
            <a:ext cx="2331720" cy="64008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EarlyStopping (paciencia 15)</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182880"/>
            <a:ext cx="10972800" cy="320040"/>
          </a:xfrm>
          <a:prstGeom prst="rect">
            <a:avLst/>
          </a:prstGeom>
          <a:noFill/>
          <a:ln/>
        </p:spPr>
        <p:txBody>
          <a:bodyPr wrap="square" lIns="0" tIns="0" rIns="0" bIns="0" rtlCol="0" anchor="ctr"/>
          <a:lstStyle/>
          <a:p>
            <a:pPr indent="0" marL="0">
              <a:buNone/>
            </a:pPr>
            <a:r>
              <a:rPr lang="en-US" sz="1300" b="1" spc="200" kern="0" dirty="0">
                <a:solidFill>
                  <a:srgbClr val="E8830C"/>
                </a:solidFill>
                <a:latin typeface="Calibri" pitchFamily="34" charset="0"/>
                <a:ea typeface="Calibri" pitchFamily="34" charset="-122"/>
                <a:cs typeface="Calibri" pitchFamily="34" charset="-120"/>
              </a:rPr>
              <a:t>IMPLEMENTACIÓN Y PRUEBAS</a:t>
            </a:r>
            <a:endParaRPr lang="en-US" sz="13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Entrenamiento en Python / Keras / Colab</a:t>
            </a:r>
            <a:endParaRPr lang="en-US" sz="3200" dirty="0"/>
          </a:p>
        </p:txBody>
      </p:sp>
      <p:pic>
        <p:nvPicPr>
          <p:cNvPr id="4" name="Image 0" descr="C:\Users\Carlos\Downloads\2. Test\prediccion-precios-vivienda\kfiguras\logo.png">    </p:cNvPr>
          <p:cNvPicPr>
            <a:picLocks noChangeAspect="1"/>
          </p:cNvPicPr>
          <p:nvPr/>
        </p:nvPicPr>
        <p:blipFill>
          <a:blip r:embed="rId1"/>
          <a:stretch>
            <a:fillRect/>
          </a:stretch>
        </p:blipFill>
        <p:spPr>
          <a:xfrm>
            <a:off x="11292840" y="256032"/>
            <a:ext cx="566928" cy="566928"/>
          </a:xfrm>
          <a:prstGeom prst="rect">
            <a:avLst/>
          </a:prstGeom>
        </p:spPr>
      </p:pic>
      <p:sp>
        <p:nvSpPr>
          <p:cNvPr id="5" name="Text 2"/>
          <p:cNvSpPr/>
          <p:nvPr/>
        </p:nvSpPr>
        <p:spPr>
          <a:xfrm>
            <a:off x="566928" y="1691640"/>
            <a:ext cx="5120640" cy="3200400"/>
          </a:xfrm>
          <a:prstGeom prst="rect">
            <a:avLst/>
          </a:prstGeom>
          <a:noFill/>
          <a:ln/>
        </p:spPr>
        <p:txBody>
          <a:bodyPr wrap="square" lIns="0" tIns="0" rIns="0" bIns="0" rtlCol="0" anchor="t"/>
          <a:lstStyle/>
          <a:p>
            <a:pPr indent="0" marL="0">
              <a:spcAft>
                <a:spcPts val="1000"/>
              </a:spcAft>
              <a:buNone/>
            </a:pPr>
            <a:r>
              <a:rPr lang="en-US" sz="1550" b="1" dirty="0">
                <a:solidFill>
                  <a:srgbClr val="1E2761"/>
                </a:solidFill>
                <a:latin typeface="Calibri" pitchFamily="34" charset="0"/>
                <a:ea typeface="Calibri" pitchFamily="34" charset="-122"/>
                <a:cs typeface="Calibri" pitchFamily="34" charset="-120"/>
              </a:rPr>
              <a:t>TensorFlow / Keras en Google Colab</a:t>
            </a:r>
            <a:endParaRPr lang="en-US" sz="1550" dirty="0"/>
          </a:p>
          <a:p>
            <a:pPr marL="342900" indent="-342900">
              <a:spcAft>
                <a:spcPts val="800"/>
              </a:spcAft>
              <a:buSzPct val="100000"/>
              <a:buChar char="•"/>
            </a:pPr>
            <a:r>
              <a:rPr lang="en-US" sz="1550" dirty="0">
                <a:solidFill>
                  <a:srgbClr val="222222"/>
                </a:solidFill>
                <a:latin typeface="Calibri" pitchFamily="34" charset="0"/>
                <a:ea typeface="Calibri" pitchFamily="34" charset="-122"/>
                <a:cs typeface="Calibri" pitchFamily="34" charset="-120"/>
              </a:rPr>
              <a:t>Estandarización de variables (media 0, desviación 1) ajustada solo con entrenamiento.</a:t>
            </a:r>
            <a:endParaRPr lang="en-US" sz="1550" dirty="0"/>
          </a:p>
          <a:p>
            <a:pPr marL="342900" indent="-342900">
              <a:spcAft>
                <a:spcPts val="800"/>
              </a:spcAft>
              <a:buSzPct val="100000"/>
              <a:buChar char="•"/>
            </a:pPr>
            <a:r>
              <a:rPr lang="en-US" sz="1550" dirty="0">
                <a:solidFill>
                  <a:srgbClr val="222222"/>
                </a:solidFill>
                <a:latin typeface="Calibri" pitchFamily="34" charset="0"/>
                <a:ea typeface="Calibri" pitchFamily="34" charset="-122"/>
                <a:cs typeface="Calibri" pitchFamily="34" charset="-120"/>
              </a:rPr>
              <a:t>Entrenamiento hasta ~95 épocas; se detiene solo por EarlyStopping.</a:t>
            </a:r>
            <a:endParaRPr lang="en-US" sz="1550" dirty="0"/>
          </a:p>
          <a:p>
            <a:pPr marL="342900" indent="-342900">
              <a:buSzPct val="100000"/>
              <a:buChar char="•"/>
            </a:pPr>
            <a:r>
              <a:rPr lang="en-US" sz="1550" dirty="0">
                <a:solidFill>
                  <a:srgbClr val="222222"/>
                </a:solidFill>
                <a:latin typeface="Calibri" pitchFamily="34" charset="0"/>
                <a:ea typeface="Calibri" pitchFamily="34" charset="-122"/>
                <a:cs typeface="Calibri" pitchFamily="34" charset="-120"/>
              </a:rPr>
              <a:t>Convergencia estable, sin señales de sobreajuste.</a:t>
            </a:r>
            <a:endParaRPr lang="en-US" sz="1550" dirty="0"/>
          </a:p>
        </p:txBody>
      </p:sp>
      <p:sp>
        <p:nvSpPr>
          <p:cNvPr id="6" name="Shape 3"/>
          <p:cNvSpPr/>
          <p:nvPr/>
        </p:nvSpPr>
        <p:spPr>
          <a:xfrm>
            <a:off x="5943600" y="1600200"/>
            <a:ext cx="5669280" cy="4114800"/>
          </a:xfrm>
          <a:prstGeom prst="roundRect">
            <a:avLst>
              <a:gd name="adj" fmla="val 2667"/>
            </a:avLst>
          </a:prstGeom>
          <a:solidFill>
            <a:srgbClr val="F4F6FA"/>
          </a:solidFill>
          <a:ln/>
        </p:spPr>
      </p:sp>
      <p:pic>
        <p:nvPicPr>
          <p:cNvPr id="7" name="Image 1" descr="C:\Users\Carlos\Downloads\2. Test\prediccion-precios-vivienda\kfiguras\kfig_curvas.png">    </p:cNvPr>
          <p:cNvPicPr>
            <a:picLocks noChangeAspect="1"/>
          </p:cNvPicPr>
          <p:nvPr/>
        </p:nvPicPr>
        <p:blipFill>
          <a:blip r:embed="rId2"/>
          <a:stretch>
            <a:fillRect/>
          </a:stretch>
        </p:blipFill>
        <p:spPr>
          <a:xfrm>
            <a:off x="6172200" y="2194560"/>
            <a:ext cx="5212080" cy="2916936"/>
          </a:xfrm>
          <a:prstGeom prst="rect">
            <a:avLst/>
          </a:prstGeom>
        </p:spPr>
      </p:pic>
      <p:sp>
        <p:nvSpPr>
          <p:cNvPr id="8" name="Text 4"/>
          <p:cNvSpPr/>
          <p:nvPr/>
        </p:nvSpPr>
        <p:spPr>
          <a:xfrm>
            <a:off x="5943600" y="5257800"/>
            <a:ext cx="5669280" cy="320040"/>
          </a:xfrm>
          <a:prstGeom prst="rect">
            <a:avLst/>
          </a:prstGeom>
          <a:noFill/>
          <a:ln/>
        </p:spPr>
        <p:txBody>
          <a:bodyPr wrap="square" rtlCol="0" anchor="ctr"/>
          <a:lstStyle/>
          <a:p>
            <a:pPr algn="ctr" indent="0" marL="0">
              <a:buNone/>
            </a:pPr>
            <a:r>
              <a:rPr lang="en-US" sz="1200" i="1" dirty="0">
                <a:solidFill>
                  <a:srgbClr val="6A6F7A"/>
                </a:solidFill>
                <a:latin typeface="Calibri" pitchFamily="34" charset="0"/>
                <a:ea typeface="Calibri" pitchFamily="34" charset="-122"/>
                <a:cs typeface="Calibri" pitchFamily="34" charset="-120"/>
              </a:rPr>
              <a:t>Curva de aprendizaje (pérdida MSE)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66928" y="320040"/>
            <a:ext cx="7315200" cy="365760"/>
          </a:xfrm>
          <a:prstGeom prst="rect">
            <a:avLst/>
          </a:prstGeom>
          <a:noFill/>
          <a:ln/>
        </p:spPr>
        <p:txBody>
          <a:bodyPr wrap="square" lIns="0" tIns="0" rIns="0" bIns="0" rtlCol="0" anchor="ctr"/>
          <a:lstStyle/>
          <a:p>
            <a:pPr indent="0" marL="0">
              <a:buNone/>
            </a:pPr>
            <a:r>
              <a:rPr lang="en-US" sz="1300" b="1" spc="200" kern="0" dirty="0">
                <a:solidFill>
                  <a:srgbClr val="E8830C"/>
                </a:solidFill>
                <a:latin typeface="Calibri" pitchFamily="34" charset="0"/>
                <a:ea typeface="Calibri" pitchFamily="34" charset="-122"/>
                <a:cs typeface="Calibri" pitchFamily="34" charset="-120"/>
              </a:rPr>
              <a:t>RESULTADOS</a:t>
            </a:r>
            <a:endParaRPr lang="en-US" sz="13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Desempeño sobre datos nunca vistos</a:t>
            </a:r>
            <a:endParaRPr lang="en-US" sz="3000" dirty="0"/>
          </a:p>
        </p:txBody>
      </p:sp>
      <p:sp>
        <p:nvSpPr>
          <p:cNvPr id="4" name="Shape 2"/>
          <p:cNvSpPr/>
          <p:nvPr/>
        </p:nvSpPr>
        <p:spPr>
          <a:xfrm>
            <a:off x="566928" y="1737360"/>
            <a:ext cx="3474720" cy="2011680"/>
          </a:xfrm>
          <a:prstGeom prst="roundRect">
            <a:avLst>
              <a:gd name="adj" fmla="val 6364"/>
            </a:avLst>
          </a:prstGeom>
          <a:solidFill>
            <a:srgbClr val="2B3A6B"/>
          </a:solidFill>
          <a:ln/>
        </p:spPr>
      </p:sp>
      <p:sp>
        <p:nvSpPr>
          <p:cNvPr id="5" name="Text 3"/>
          <p:cNvSpPr/>
          <p:nvPr/>
        </p:nvSpPr>
        <p:spPr>
          <a:xfrm>
            <a:off x="566928" y="1874520"/>
            <a:ext cx="3474720" cy="1005840"/>
          </a:xfrm>
          <a:prstGeom prst="rect">
            <a:avLst/>
          </a:prstGeom>
          <a:noFill/>
          <a:ln/>
        </p:spPr>
        <p:txBody>
          <a:bodyPr wrap="square" lIns="0" tIns="0" rIns="0" bIns="0" rtlCol="0" anchor="ctr"/>
          <a:lstStyle/>
          <a:p>
            <a:pPr algn="ctr" indent="0" marL="0">
              <a:buNone/>
            </a:pPr>
            <a:r>
              <a:rPr lang="en-US" sz="5400" b="1" dirty="0">
                <a:solidFill>
                  <a:srgbClr val="1E9E3A"/>
                </a:solidFill>
                <a:latin typeface="Cambria" pitchFamily="34" charset="0"/>
                <a:ea typeface="Cambria" pitchFamily="34" charset="-122"/>
                <a:cs typeface="Cambria" pitchFamily="34" charset="-120"/>
              </a:rPr>
              <a:t>0,821</a:t>
            </a:r>
            <a:endParaRPr lang="en-US" sz="5400" dirty="0"/>
          </a:p>
        </p:txBody>
      </p:sp>
      <p:sp>
        <p:nvSpPr>
          <p:cNvPr id="6" name="Text 4"/>
          <p:cNvSpPr/>
          <p:nvPr/>
        </p:nvSpPr>
        <p:spPr>
          <a:xfrm>
            <a:off x="566928" y="2834640"/>
            <a:ext cx="347472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R²</a:t>
            </a:r>
            <a:endParaRPr lang="en-US" sz="1800" dirty="0"/>
          </a:p>
        </p:txBody>
      </p:sp>
      <p:sp>
        <p:nvSpPr>
          <p:cNvPr id="7" name="Text 5"/>
          <p:cNvSpPr/>
          <p:nvPr/>
        </p:nvSpPr>
        <p:spPr>
          <a:xfrm>
            <a:off x="749808" y="3200400"/>
            <a:ext cx="3108960" cy="502920"/>
          </a:xfrm>
          <a:prstGeom prst="rect">
            <a:avLst/>
          </a:prstGeom>
          <a:noFill/>
          <a:ln/>
        </p:spPr>
        <p:txBody>
          <a:bodyPr wrap="square" lIns="0" tIns="0" rIns="0" bIns="0"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82,1 % de la varianza explicada</a:t>
            </a:r>
            <a:endParaRPr lang="en-US" sz="1250" dirty="0"/>
          </a:p>
        </p:txBody>
      </p:sp>
      <p:sp>
        <p:nvSpPr>
          <p:cNvPr id="8" name="Shape 6"/>
          <p:cNvSpPr/>
          <p:nvPr/>
        </p:nvSpPr>
        <p:spPr>
          <a:xfrm>
            <a:off x="4334256" y="1737360"/>
            <a:ext cx="3474720" cy="2011680"/>
          </a:xfrm>
          <a:prstGeom prst="roundRect">
            <a:avLst>
              <a:gd name="adj" fmla="val 6364"/>
            </a:avLst>
          </a:prstGeom>
          <a:solidFill>
            <a:srgbClr val="2B3A6B"/>
          </a:solidFill>
          <a:ln/>
        </p:spPr>
      </p:sp>
      <p:sp>
        <p:nvSpPr>
          <p:cNvPr id="9" name="Text 7"/>
          <p:cNvSpPr/>
          <p:nvPr/>
        </p:nvSpPr>
        <p:spPr>
          <a:xfrm>
            <a:off x="4334256" y="1874520"/>
            <a:ext cx="3474720" cy="1005840"/>
          </a:xfrm>
          <a:prstGeom prst="rect">
            <a:avLst/>
          </a:prstGeom>
          <a:noFill/>
          <a:ln/>
        </p:spPr>
        <p:txBody>
          <a:bodyPr wrap="square" lIns="0" tIns="0" rIns="0" bIns="0" rtlCol="0" anchor="ctr"/>
          <a:lstStyle/>
          <a:p>
            <a:pPr algn="ctr" indent="0" marL="0">
              <a:buNone/>
            </a:pPr>
            <a:r>
              <a:rPr lang="en-US" sz="5400" b="1" dirty="0">
                <a:solidFill>
                  <a:srgbClr val="E8830C"/>
                </a:solidFill>
                <a:latin typeface="Cambria" pitchFamily="34" charset="0"/>
                <a:ea typeface="Cambria" pitchFamily="34" charset="-122"/>
                <a:cs typeface="Cambria" pitchFamily="34" charset="-120"/>
              </a:rPr>
              <a:t>0,332</a:t>
            </a:r>
            <a:endParaRPr lang="en-US" sz="5400" dirty="0"/>
          </a:p>
        </p:txBody>
      </p:sp>
      <p:sp>
        <p:nvSpPr>
          <p:cNvPr id="10" name="Text 8"/>
          <p:cNvSpPr/>
          <p:nvPr/>
        </p:nvSpPr>
        <p:spPr>
          <a:xfrm>
            <a:off x="4334256" y="2834640"/>
            <a:ext cx="347472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MAE</a:t>
            </a:r>
            <a:endParaRPr lang="en-US" sz="1800" dirty="0"/>
          </a:p>
        </p:txBody>
      </p:sp>
      <p:sp>
        <p:nvSpPr>
          <p:cNvPr id="11" name="Text 9"/>
          <p:cNvSpPr/>
          <p:nvPr/>
        </p:nvSpPr>
        <p:spPr>
          <a:xfrm>
            <a:off x="4517136" y="3200400"/>
            <a:ext cx="3108960" cy="502920"/>
          </a:xfrm>
          <a:prstGeom prst="rect">
            <a:avLst/>
          </a:prstGeom>
          <a:noFill/>
          <a:ln/>
        </p:spPr>
        <p:txBody>
          <a:bodyPr wrap="square" lIns="0" tIns="0" rIns="0" bIns="0"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 33.244 USD de error promedio</a:t>
            </a:r>
            <a:endParaRPr lang="en-US" sz="1250" dirty="0"/>
          </a:p>
        </p:txBody>
      </p:sp>
      <p:sp>
        <p:nvSpPr>
          <p:cNvPr id="12" name="Shape 10"/>
          <p:cNvSpPr/>
          <p:nvPr/>
        </p:nvSpPr>
        <p:spPr>
          <a:xfrm>
            <a:off x="8101584" y="1737360"/>
            <a:ext cx="3474720" cy="2011680"/>
          </a:xfrm>
          <a:prstGeom prst="roundRect">
            <a:avLst>
              <a:gd name="adj" fmla="val 6364"/>
            </a:avLst>
          </a:prstGeom>
          <a:solidFill>
            <a:srgbClr val="2B3A6B"/>
          </a:solidFill>
          <a:ln/>
        </p:spPr>
      </p:sp>
      <p:sp>
        <p:nvSpPr>
          <p:cNvPr id="13" name="Text 11"/>
          <p:cNvSpPr/>
          <p:nvPr/>
        </p:nvSpPr>
        <p:spPr>
          <a:xfrm>
            <a:off x="8101584" y="1874520"/>
            <a:ext cx="3474720" cy="1005840"/>
          </a:xfrm>
          <a:prstGeom prst="rect">
            <a:avLst/>
          </a:prstGeom>
          <a:noFill/>
          <a:ln/>
        </p:spPr>
        <p:txBody>
          <a:bodyPr wrap="square" lIns="0" tIns="0" rIns="0" bIns="0" rtlCol="0" anchor="ctr"/>
          <a:lstStyle/>
          <a:p>
            <a:pPr algn="ctr" indent="0" marL="0">
              <a:buNone/>
            </a:pPr>
            <a:r>
              <a:rPr lang="en-US" sz="5400" b="1" dirty="0">
                <a:solidFill>
                  <a:srgbClr val="6C7BB5"/>
                </a:solidFill>
                <a:latin typeface="Cambria" pitchFamily="34" charset="0"/>
                <a:ea typeface="Cambria" pitchFamily="34" charset="-122"/>
                <a:cs typeface="Cambria" pitchFamily="34" charset="-120"/>
              </a:rPr>
              <a:t>0,486</a:t>
            </a:r>
            <a:endParaRPr lang="en-US" sz="5400" dirty="0"/>
          </a:p>
        </p:txBody>
      </p:sp>
      <p:sp>
        <p:nvSpPr>
          <p:cNvPr id="14" name="Text 12"/>
          <p:cNvSpPr/>
          <p:nvPr/>
        </p:nvSpPr>
        <p:spPr>
          <a:xfrm>
            <a:off x="8101584" y="2834640"/>
            <a:ext cx="347472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RMSE</a:t>
            </a:r>
            <a:endParaRPr lang="en-US" sz="1800" dirty="0"/>
          </a:p>
        </p:txBody>
      </p:sp>
      <p:sp>
        <p:nvSpPr>
          <p:cNvPr id="15" name="Text 13"/>
          <p:cNvSpPr/>
          <p:nvPr/>
        </p:nvSpPr>
        <p:spPr>
          <a:xfrm>
            <a:off x="8284464" y="3200400"/>
            <a:ext cx="3108960" cy="502920"/>
          </a:xfrm>
          <a:prstGeom prst="rect">
            <a:avLst/>
          </a:prstGeom>
          <a:noFill/>
          <a:ln/>
        </p:spPr>
        <p:txBody>
          <a:bodyPr wrap="square" lIns="0" tIns="0" rIns="0" bIns="0"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penaliza los errores grandes</a:t>
            </a:r>
            <a:endParaRPr lang="en-US" sz="1250" dirty="0"/>
          </a:p>
        </p:txBody>
      </p:sp>
      <p:pic>
        <p:nvPicPr>
          <p:cNvPr id="16" name="Image 0" descr="C:\Users\Carlos\Downloads\2. Test\prediccion-precios-vivienda\kfiguras\kfig_pred.png">    </p:cNvPr>
          <p:cNvPicPr>
            <a:picLocks noChangeAspect="1"/>
          </p:cNvPicPr>
          <p:nvPr/>
        </p:nvPicPr>
        <p:blipFill>
          <a:blip r:embed="rId1"/>
          <a:stretch>
            <a:fillRect/>
          </a:stretch>
        </p:blipFill>
        <p:spPr>
          <a:xfrm>
            <a:off x="4754880" y="3977640"/>
            <a:ext cx="2606040" cy="2724912"/>
          </a:xfrm>
          <a:prstGeom prst="rect">
            <a:avLst/>
          </a:prstGeom>
        </p:spPr>
      </p:pic>
      <p:sp>
        <p:nvSpPr>
          <p:cNvPr id="17" name="Text 14"/>
          <p:cNvSpPr/>
          <p:nvPr/>
        </p:nvSpPr>
        <p:spPr>
          <a:xfrm>
            <a:off x="7680960" y="4297680"/>
            <a:ext cx="3931920" cy="2103120"/>
          </a:xfrm>
          <a:prstGeom prst="rect">
            <a:avLst/>
          </a:prstGeom>
          <a:noFill/>
          <a:ln/>
        </p:spPr>
        <p:txBody>
          <a:bodyPr wrap="square" lIns="0" tIns="0" rIns="0" bIns="0" rtlCol="0" anchor="t"/>
          <a:lstStyle/>
          <a:p>
            <a:pPr indent="0" marL="0">
              <a:spcAft>
                <a:spcPts val="800"/>
              </a:spcAft>
              <a:buNone/>
            </a:pPr>
            <a:r>
              <a:rPr lang="en-US" sz="1400" b="1" dirty="0">
                <a:solidFill>
                  <a:srgbClr val="FFFFFF"/>
                </a:solidFill>
                <a:latin typeface="Calibri" pitchFamily="34" charset="0"/>
                <a:ea typeface="Calibri" pitchFamily="34" charset="-122"/>
                <a:cs typeface="Calibri" pitchFamily="34" charset="-120"/>
              </a:rPr>
              <a:t>Predicciones vs. valores reales</a:t>
            </a:r>
            <a:endParaRPr lang="en-US" sz="1400" dirty="0"/>
          </a:p>
          <a:p>
            <a:pPr indent="0" marL="0">
              <a:spcAft>
                <a:spcPts val="600"/>
              </a:spcAft>
              <a:buNone/>
            </a:pPr>
            <a:r>
              <a:rPr lang="en-US" sz="1400" dirty="0">
                <a:solidFill>
                  <a:srgbClr val="CADCFC"/>
                </a:solidFill>
                <a:latin typeface="Calibri" pitchFamily="34" charset="0"/>
                <a:ea typeface="Calibri" pitchFamily="34" charset="-122"/>
                <a:cs typeface="Calibri" pitchFamily="34" charset="-120"/>
              </a:rPr>
              <a:t>La nube se agrupa en torno a la diagonal ideal: buen ajuste.</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La franja vertical superior es el tope censurado de 500.000 USD.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182880"/>
            <a:ext cx="10972800" cy="320040"/>
          </a:xfrm>
          <a:prstGeom prst="rect">
            <a:avLst/>
          </a:prstGeom>
          <a:noFill/>
          <a:ln/>
        </p:spPr>
        <p:txBody>
          <a:bodyPr wrap="square" lIns="0" tIns="0" rIns="0" bIns="0" rtlCol="0" anchor="ctr"/>
          <a:lstStyle/>
          <a:p>
            <a:pPr indent="0" marL="0">
              <a:buNone/>
            </a:pPr>
            <a:r>
              <a:rPr lang="en-US" sz="1300" b="1" spc="200" kern="0" dirty="0">
                <a:solidFill>
                  <a:srgbClr val="C0392B"/>
                </a:solidFill>
                <a:latin typeface="Calibri" pitchFamily="34" charset="0"/>
                <a:ea typeface="Calibri" pitchFamily="34" charset="-122"/>
                <a:cs typeface="Calibri" pitchFamily="34" charset="-120"/>
              </a:rPr>
              <a:t>EVALUACIÓN ÉTICA · 1</a:t>
            </a:r>
            <a:endParaRPr lang="en-US" sz="13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¿Es el modelo igual de justo con todos?</a:t>
            </a:r>
            <a:endParaRPr lang="en-US" sz="3200" dirty="0"/>
          </a:p>
        </p:txBody>
      </p:sp>
      <p:pic>
        <p:nvPicPr>
          <p:cNvPr id="4" name="Image 0" descr="C:\Users\Carlos\Downloads\2. Test\prediccion-precios-vivienda\kfiguras\logo.png">    </p:cNvPr>
          <p:cNvPicPr>
            <a:picLocks noChangeAspect="1"/>
          </p:cNvPicPr>
          <p:nvPr/>
        </p:nvPicPr>
        <p:blipFill>
          <a:blip r:embed="rId1"/>
          <a:stretch>
            <a:fillRect/>
          </a:stretch>
        </p:blipFill>
        <p:spPr>
          <a:xfrm>
            <a:off x="11292840" y="256032"/>
            <a:ext cx="566928" cy="566928"/>
          </a:xfrm>
          <a:prstGeom prst="rect">
            <a:avLst/>
          </a:prstGeom>
        </p:spPr>
      </p:pic>
      <p:pic>
        <p:nvPicPr>
          <p:cNvPr id="5" name="Image 1" descr="C:\Users\Carlos\Downloads\2. Test\prediccion-precios-vivienda\kfiguras\kfig_equidad.png">    </p:cNvPr>
          <p:cNvPicPr>
            <a:picLocks noChangeAspect="1"/>
          </p:cNvPicPr>
          <p:nvPr/>
        </p:nvPicPr>
        <p:blipFill>
          <a:blip r:embed="rId2"/>
          <a:stretch>
            <a:fillRect/>
          </a:stretch>
        </p:blipFill>
        <p:spPr>
          <a:xfrm>
            <a:off x="566928" y="1737360"/>
            <a:ext cx="5943600" cy="3566160"/>
          </a:xfrm>
          <a:prstGeom prst="rect">
            <a:avLst/>
          </a:prstGeom>
        </p:spPr>
      </p:pic>
      <p:sp>
        <p:nvSpPr>
          <p:cNvPr id="6" name="Text 2"/>
          <p:cNvSpPr/>
          <p:nvPr/>
        </p:nvSpPr>
        <p:spPr>
          <a:xfrm>
            <a:off x="6766560" y="1828800"/>
            <a:ext cx="4846320" cy="3657600"/>
          </a:xfrm>
          <a:prstGeom prst="rect">
            <a:avLst/>
          </a:prstGeom>
          <a:noFill/>
          <a:ln/>
        </p:spPr>
        <p:txBody>
          <a:bodyPr wrap="square" lIns="0" tIns="0" rIns="0" bIns="0" rtlCol="0" anchor="t"/>
          <a:lstStyle/>
          <a:p>
            <a:pPr indent="0" marL="0">
              <a:spcAft>
                <a:spcPts val="1000"/>
              </a:spcAft>
              <a:buNone/>
            </a:pPr>
            <a:r>
              <a:rPr lang="en-US" sz="1700" b="1" dirty="0">
                <a:solidFill>
                  <a:srgbClr val="1E2761"/>
                </a:solidFill>
                <a:latin typeface="Calibri" pitchFamily="34" charset="0"/>
                <a:ea typeface="Calibri" pitchFamily="34" charset="-122"/>
                <a:cs typeface="Calibri" pitchFamily="34" charset="-120"/>
              </a:rPr>
              <a:t>El error NO es uniforme entre grupos:</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Menor en zonas de ingreso bajo (0,270).</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Mayor en zonas de ingreso alto (0,392).</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Se explica por el tope censurado y la mayor variabilidad de las viviendas costosas.</a:t>
            </a:r>
            <a:endParaRPr lang="en-US" sz="1500" dirty="0"/>
          </a:p>
          <a:p>
            <a:pPr indent="0" marL="0">
              <a:buNone/>
            </a:pPr>
            <a:r>
              <a:rPr lang="en-US" sz="1500" b="1" dirty="0">
                <a:solidFill>
                  <a:srgbClr val="C0392B"/>
                </a:solidFill>
                <a:latin typeface="Calibri" pitchFamily="34" charset="0"/>
                <a:ea typeface="Calibri" pitchFamily="34" charset="-122"/>
                <a:cs typeface="Calibri" pitchFamily="34" charset="-120"/>
              </a:rPr>
              <a:t>Debe vigilarse si el modelo se usa en decisiones sensibles.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182880"/>
            <a:ext cx="10972800" cy="320040"/>
          </a:xfrm>
          <a:prstGeom prst="rect">
            <a:avLst/>
          </a:prstGeom>
          <a:noFill/>
          <a:ln/>
        </p:spPr>
        <p:txBody>
          <a:bodyPr wrap="square" lIns="0" tIns="0" rIns="0" bIns="0" rtlCol="0" anchor="ctr"/>
          <a:lstStyle/>
          <a:p>
            <a:pPr indent="0" marL="0">
              <a:buNone/>
            </a:pPr>
            <a:r>
              <a:rPr lang="en-US" sz="1300" b="1" spc="200" kern="0" dirty="0">
                <a:solidFill>
                  <a:srgbClr val="C0392B"/>
                </a:solidFill>
                <a:latin typeface="Calibri" pitchFamily="34" charset="0"/>
                <a:ea typeface="Calibri" pitchFamily="34" charset="-122"/>
                <a:cs typeface="Calibri" pitchFamily="34" charset="-120"/>
              </a:rPr>
              <a:t>EVALUACIÓN ÉTICA · 2</a:t>
            </a:r>
            <a:endParaRPr lang="en-US" sz="13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La ubicación como variable 'proxy'</a:t>
            </a:r>
            <a:endParaRPr lang="en-US" sz="3200" dirty="0"/>
          </a:p>
        </p:txBody>
      </p:sp>
      <p:pic>
        <p:nvPicPr>
          <p:cNvPr id="4" name="Image 0" descr="C:\Users\Carlos\Downloads\2. Test\prediccion-precios-vivienda\kfiguras\logo.png">    </p:cNvPr>
          <p:cNvPicPr>
            <a:picLocks noChangeAspect="1"/>
          </p:cNvPicPr>
          <p:nvPr/>
        </p:nvPicPr>
        <p:blipFill>
          <a:blip r:embed="rId1"/>
          <a:stretch>
            <a:fillRect/>
          </a:stretch>
        </p:blipFill>
        <p:spPr>
          <a:xfrm>
            <a:off x="11292840" y="256032"/>
            <a:ext cx="566928" cy="566928"/>
          </a:xfrm>
          <a:prstGeom prst="rect">
            <a:avLst/>
          </a:prstGeom>
        </p:spPr>
      </p:pic>
      <p:sp>
        <p:nvSpPr>
          <p:cNvPr id="5" name="Text 2"/>
          <p:cNvSpPr/>
          <p:nvPr/>
        </p:nvSpPr>
        <p:spPr>
          <a:xfrm>
            <a:off x="566928" y="1463040"/>
            <a:ext cx="10972800" cy="45720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Entrenamos una segunda red idéntica pero SIN latitud ni longitud:</a:t>
            </a:r>
            <a:endParaRPr lang="en-US" sz="1600" dirty="0"/>
          </a:p>
        </p:txBody>
      </p:sp>
      <p:sp>
        <p:nvSpPr>
          <p:cNvPr id="6" name="Shape 3"/>
          <p:cNvSpPr/>
          <p:nvPr/>
        </p:nvSpPr>
        <p:spPr>
          <a:xfrm>
            <a:off x="822960" y="2194560"/>
            <a:ext cx="2743200" cy="2103120"/>
          </a:xfrm>
          <a:prstGeom prst="roundRect">
            <a:avLst>
              <a:gd name="adj" fmla="val 6087"/>
            </a:avLst>
          </a:prstGeom>
          <a:solidFill>
            <a:srgbClr val="F4F6FA"/>
          </a:solidFill>
          <a:ln/>
        </p:spPr>
      </p:sp>
      <p:sp>
        <p:nvSpPr>
          <p:cNvPr id="7" name="Text 4"/>
          <p:cNvSpPr/>
          <p:nvPr/>
        </p:nvSpPr>
        <p:spPr>
          <a:xfrm>
            <a:off x="822960" y="2377440"/>
            <a:ext cx="2743200" cy="1097280"/>
          </a:xfrm>
          <a:prstGeom prst="rect">
            <a:avLst/>
          </a:prstGeom>
          <a:noFill/>
          <a:ln/>
        </p:spPr>
        <p:txBody>
          <a:bodyPr wrap="square" lIns="0" tIns="0" rIns="0" bIns="0" rtlCol="0" anchor="ctr"/>
          <a:lstStyle/>
          <a:p>
            <a:pPr algn="ctr" indent="0" marL="0">
              <a:buNone/>
            </a:pPr>
            <a:r>
              <a:rPr lang="en-US" sz="5000" b="1" dirty="0">
                <a:solidFill>
                  <a:srgbClr val="1E9E3A"/>
                </a:solidFill>
                <a:latin typeface="Cambria" pitchFamily="34" charset="0"/>
                <a:ea typeface="Cambria" pitchFamily="34" charset="-122"/>
                <a:cs typeface="Cambria" pitchFamily="34" charset="-120"/>
              </a:rPr>
              <a:t>0,821</a:t>
            </a:r>
            <a:endParaRPr lang="en-US" sz="5000" dirty="0"/>
          </a:p>
        </p:txBody>
      </p:sp>
      <p:sp>
        <p:nvSpPr>
          <p:cNvPr id="8" name="Text 5"/>
          <p:cNvSpPr/>
          <p:nvPr/>
        </p:nvSpPr>
        <p:spPr>
          <a:xfrm>
            <a:off x="822960" y="3520440"/>
            <a:ext cx="2743200" cy="45720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R² CON ubicación</a:t>
            </a:r>
            <a:endParaRPr lang="en-US" sz="1400" dirty="0"/>
          </a:p>
        </p:txBody>
      </p:sp>
      <p:sp>
        <p:nvSpPr>
          <p:cNvPr id="9" name="Shape 6"/>
          <p:cNvSpPr/>
          <p:nvPr/>
        </p:nvSpPr>
        <p:spPr>
          <a:xfrm>
            <a:off x="3840480" y="2194560"/>
            <a:ext cx="2743200" cy="2103120"/>
          </a:xfrm>
          <a:prstGeom prst="roundRect">
            <a:avLst>
              <a:gd name="adj" fmla="val 6087"/>
            </a:avLst>
          </a:prstGeom>
          <a:solidFill>
            <a:srgbClr val="F4F6FA"/>
          </a:solidFill>
          <a:ln/>
        </p:spPr>
      </p:sp>
      <p:sp>
        <p:nvSpPr>
          <p:cNvPr id="10" name="Text 7"/>
          <p:cNvSpPr/>
          <p:nvPr/>
        </p:nvSpPr>
        <p:spPr>
          <a:xfrm>
            <a:off x="3840480" y="2377440"/>
            <a:ext cx="2743200" cy="1097280"/>
          </a:xfrm>
          <a:prstGeom prst="rect">
            <a:avLst/>
          </a:prstGeom>
          <a:noFill/>
          <a:ln/>
        </p:spPr>
        <p:txBody>
          <a:bodyPr wrap="square" lIns="0" tIns="0" rIns="0" bIns="0" rtlCol="0" anchor="ctr"/>
          <a:lstStyle/>
          <a:p>
            <a:pPr algn="ctr" indent="0" marL="0">
              <a:buNone/>
            </a:pPr>
            <a:r>
              <a:rPr lang="en-US" sz="5000" b="1" dirty="0">
                <a:solidFill>
                  <a:srgbClr val="9AA3B8"/>
                </a:solidFill>
                <a:latin typeface="Cambria" pitchFamily="34" charset="0"/>
                <a:ea typeface="Cambria" pitchFamily="34" charset="-122"/>
                <a:cs typeface="Cambria" pitchFamily="34" charset="-120"/>
              </a:rPr>
              <a:t>0,720</a:t>
            </a:r>
            <a:endParaRPr lang="en-US" sz="5000" dirty="0"/>
          </a:p>
        </p:txBody>
      </p:sp>
      <p:sp>
        <p:nvSpPr>
          <p:cNvPr id="11" name="Text 8"/>
          <p:cNvSpPr/>
          <p:nvPr/>
        </p:nvSpPr>
        <p:spPr>
          <a:xfrm>
            <a:off x="3840480" y="3520440"/>
            <a:ext cx="2743200" cy="45720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R² SIN ubicación</a:t>
            </a:r>
            <a:endParaRPr lang="en-US" sz="1400" dirty="0"/>
          </a:p>
        </p:txBody>
      </p:sp>
      <p:sp>
        <p:nvSpPr>
          <p:cNvPr id="12" name="Shape 9"/>
          <p:cNvSpPr/>
          <p:nvPr/>
        </p:nvSpPr>
        <p:spPr>
          <a:xfrm>
            <a:off x="7040880" y="2194560"/>
            <a:ext cx="4572000" cy="2103120"/>
          </a:xfrm>
          <a:prstGeom prst="roundRect">
            <a:avLst>
              <a:gd name="adj" fmla="val 6087"/>
            </a:avLst>
          </a:prstGeom>
          <a:solidFill>
            <a:srgbClr val="E8830C"/>
          </a:solidFill>
          <a:ln/>
        </p:spPr>
      </p:sp>
      <p:sp>
        <p:nvSpPr>
          <p:cNvPr id="13" name="Text 10"/>
          <p:cNvSpPr/>
          <p:nvPr/>
        </p:nvSpPr>
        <p:spPr>
          <a:xfrm>
            <a:off x="7040880" y="2331720"/>
            <a:ext cx="4572000" cy="1005840"/>
          </a:xfrm>
          <a:prstGeom prst="rect">
            <a:avLst/>
          </a:prstGeom>
          <a:noFill/>
          <a:ln/>
        </p:spPr>
        <p:txBody>
          <a:bodyPr wrap="square" lIns="0" tIns="0" rIns="0" bIns="0" rtlCol="0" anchor="ctr"/>
          <a:lstStyle/>
          <a:p>
            <a:pPr algn="ctr" indent="0" marL="0">
              <a:buNone/>
            </a:pPr>
            <a:r>
              <a:rPr lang="en-US" sz="5000" b="1" dirty="0">
                <a:solidFill>
                  <a:srgbClr val="FFFFFF"/>
                </a:solidFill>
                <a:latin typeface="Cambria" pitchFamily="34" charset="0"/>
                <a:ea typeface="Cambria" pitchFamily="34" charset="-122"/>
                <a:cs typeface="Cambria" pitchFamily="34" charset="-120"/>
              </a:rPr>
              <a:t>+10,1</a:t>
            </a:r>
            <a:endParaRPr lang="en-US" sz="5000" dirty="0"/>
          </a:p>
        </p:txBody>
      </p:sp>
      <p:sp>
        <p:nvSpPr>
          <p:cNvPr id="14" name="Text 11"/>
          <p:cNvSpPr/>
          <p:nvPr/>
        </p:nvSpPr>
        <p:spPr>
          <a:xfrm>
            <a:off x="7223760" y="3429000"/>
            <a:ext cx="420624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puntos de R² que aporta la ubicación</a:t>
            </a:r>
            <a:endParaRPr lang="en-US" sz="1400" dirty="0"/>
          </a:p>
        </p:txBody>
      </p:sp>
      <p:sp>
        <p:nvSpPr>
          <p:cNvPr id="15" name="Shape 12"/>
          <p:cNvSpPr/>
          <p:nvPr/>
        </p:nvSpPr>
        <p:spPr>
          <a:xfrm>
            <a:off x="822960" y="4663440"/>
            <a:ext cx="10789920" cy="1371600"/>
          </a:xfrm>
          <a:prstGeom prst="roundRect">
            <a:avLst>
              <a:gd name="adj" fmla="val 8000"/>
            </a:avLst>
          </a:prstGeom>
          <a:solidFill>
            <a:srgbClr val="FBEAE7"/>
          </a:solidFill>
          <a:ln/>
        </p:spPr>
      </p:sp>
      <p:sp>
        <p:nvSpPr>
          <p:cNvPr id="16" name="Text 13"/>
          <p:cNvSpPr/>
          <p:nvPr/>
        </p:nvSpPr>
        <p:spPr>
          <a:xfrm>
            <a:off x="1097280" y="4754880"/>
            <a:ext cx="10241280" cy="1188720"/>
          </a:xfrm>
          <a:prstGeom prst="rect">
            <a:avLst/>
          </a:prstGeom>
          <a:noFill/>
          <a:ln/>
        </p:spPr>
        <p:txBody>
          <a:bodyPr wrap="square" lIns="0" tIns="0" rIns="0" bIns="0" rtlCol="0" anchor="ctr"/>
          <a:lstStyle/>
          <a:p>
            <a:pPr indent="0" marL="0">
              <a:buNone/>
            </a:pPr>
            <a:r>
              <a:rPr lang="en-US" sz="1550" b="1" dirty="0">
                <a:solidFill>
                  <a:srgbClr val="C0392B"/>
                </a:solidFill>
                <a:latin typeface="Calibri" pitchFamily="34" charset="0"/>
                <a:ea typeface="Calibri" pitchFamily="34" charset="-122"/>
                <a:cs typeface="Calibri" pitchFamily="34" charset="-120"/>
              </a:rPr>
              <a:t>El riesgo:  </a:t>
            </a:r>
            <a:pPr indent="0" marL="0">
              <a:buNone/>
            </a:pPr>
            <a:r>
              <a:rPr lang="en-US" sz="1550" dirty="0">
                <a:solidFill>
                  <a:srgbClr val="222222"/>
                </a:solidFill>
                <a:latin typeface="Calibri" pitchFamily="34" charset="0"/>
                <a:ea typeface="Calibri" pitchFamily="34" charset="-122"/>
                <a:cs typeface="Calibri" pitchFamily="34" charset="-120"/>
              </a:rPr>
              <a:t>la ubicación es un potente predictor, pero también un </a:t>
            </a:r>
            <a:pPr indent="0" marL="0">
              <a:buNone/>
            </a:pPr>
            <a:r>
              <a:rPr lang="en-US" sz="1550" b="1" dirty="0">
                <a:solidFill>
                  <a:srgbClr val="C0392B"/>
                </a:solidFill>
                <a:latin typeface="Calibri" pitchFamily="34" charset="0"/>
                <a:ea typeface="Calibri" pitchFamily="34" charset="-122"/>
                <a:cs typeface="Calibri" pitchFamily="34" charset="-120"/>
              </a:rPr>
              <a:t>proxy del nivel socioeconómico</a:t>
            </a:r>
            <a:pPr indent="0" marL="0">
              <a:buNone/>
            </a:pPr>
            <a:r>
              <a:rPr lang="en-US" sz="1550" dirty="0">
                <a:solidFill>
                  <a:srgbClr val="222222"/>
                </a:solidFill>
                <a:latin typeface="Calibri" pitchFamily="34" charset="0"/>
                <a:ea typeface="Calibri" pitchFamily="34" charset="-122"/>
                <a:cs typeface="Calibri" pitchFamily="34" charset="-120"/>
              </a:rPr>
              <a:t>. En un uso real (p. ej. aprobar créditos) podría producir un </a:t>
            </a:r>
            <a:pPr indent="0" marL="0">
              <a:buNone/>
            </a:pPr>
            <a:r>
              <a:rPr lang="en-US" sz="1550" b="1" i="1" dirty="0">
                <a:solidFill>
                  <a:srgbClr val="C0392B"/>
                </a:solidFill>
                <a:latin typeface="Calibri" pitchFamily="34" charset="0"/>
                <a:ea typeface="Calibri" pitchFamily="34" charset="-122"/>
                <a:cs typeface="Calibri" pitchFamily="34" charset="-120"/>
              </a:rPr>
              <a:t>'redlining algorítmico'</a:t>
            </a:r>
            <a:pPr indent="0" marL="0">
              <a:buNone/>
            </a:pPr>
            <a:r>
              <a:rPr lang="en-US" sz="1550" dirty="0">
                <a:solidFill>
                  <a:srgbClr val="222222"/>
                </a:solidFill>
                <a:latin typeface="Calibri" pitchFamily="34" charset="0"/>
                <a:ea typeface="Calibri" pitchFamily="34" charset="-122"/>
                <a:cs typeface="Calibri" pitchFamily="34" charset="-120"/>
              </a:rPr>
              <a:t>, negando oportunidades a ciertos barrios.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182880"/>
            <a:ext cx="10972800" cy="320040"/>
          </a:xfrm>
          <a:prstGeom prst="rect">
            <a:avLst/>
          </a:prstGeom>
          <a:noFill/>
          <a:ln/>
        </p:spPr>
        <p:txBody>
          <a:bodyPr wrap="square" lIns="0" tIns="0" rIns="0" bIns="0" rtlCol="0" anchor="ctr"/>
          <a:lstStyle/>
          <a:p>
            <a:pPr indent="0" marL="0">
              <a:buNone/>
            </a:pPr>
            <a:r>
              <a:rPr lang="en-US" sz="1300" b="1" spc="200" kern="0" dirty="0">
                <a:solidFill>
                  <a:srgbClr val="E8830C"/>
                </a:solidFill>
                <a:latin typeface="Calibri" pitchFamily="34" charset="0"/>
                <a:ea typeface="Calibri" pitchFamily="34" charset="-122"/>
                <a:cs typeface="Calibri" pitchFamily="34" charset="-120"/>
              </a:rPr>
              <a:t>REFLEXIÓN</a:t>
            </a:r>
            <a:endParaRPr lang="en-US" sz="13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Limitaciones y mejoras futuras</a:t>
            </a:r>
            <a:endParaRPr lang="en-US" sz="3200" dirty="0"/>
          </a:p>
        </p:txBody>
      </p:sp>
      <p:pic>
        <p:nvPicPr>
          <p:cNvPr id="4" name="Image 0" descr="C:\Users\Carlos\Downloads\2. Test\prediccion-precios-vivienda\kfiguras\logo.png">    </p:cNvPr>
          <p:cNvPicPr>
            <a:picLocks noChangeAspect="1"/>
          </p:cNvPicPr>
          <p:nvPr/>
        </p:nvPicPr>
        <p:blipFill>
          <a:blip r:embed="rId1"/>
          <a:stretch>
            <a:fillRect/>
          </a:stretch>
        </p:blipFill>
        <p:spPr>
          <a:xfrm>
            <a:off x="11292840" y="256032"/>
            <a:ext cx="566928" cy="566928"/>
          </a:xfrm>
          <a:prstGeom prst="rect">
            <a:avLst/>
          </a:prstGeom>
        </p:spPr>
      </p:pic>
      <p:sp>
        <p:nvSpPr>
          <p:cNvPr id="5" name="Shape 2"/>
          <p:cNvSpPr/>
          <p:nvPr/>
        </p:nvSpPr>
        <p:spPr>
          <a:xfrm>
            <a:off x="566928" y="1691640"/>
            <a:ext cx="5349240" cy="4023360"/>
          </a:xfrm>
          <a:prstGeom prst="roundRect">
            <a:avLst>
              <a:gd name="adj" fmla="val 2727"/>
            </a:avLst>
          </a:prstGeom>
          <a:solidFill>
            <a:srgbClr val="F4F6FA"/>
          </a:solidFill>
          <a:ln/>
        </p:spPr>
      </p:sp>
      <p:sp>
        <p:nvSpPr>
          <p:cNvPr id="6" name="Shape 3"/>
          <p:cNvSpPr/>
          <p:nvPr/>
        </p:nvSpPr>
        <p:spPr>
          <a:xfrm>
            <a:off x="886968" y="2011680"/>
            <a:ext cx="457200" cy="457200"/>
          </a:xfrm>
          <a:prstGeom prst="roundRect">
            <a:avLst>
              <a:gd name="adj" fmla="val 50000"/>
            </a:avLst>
          </a:prstGeom>
          <a:solidFill>
            <a:srgbClr val="C0392B"/>
          </a:solidFill>
          <a:ln/>
        </p:spPr>
      </p:sp>
      <p:sp>
        <p:nvSpPr>
          <p:cNvPr id="7" name="Text 4"/>
          <p:cNvSpPr/>
          <p:nvPr/>
        </p:nvSpPr>
        <p:spPr>
          <a:xfrm>
            <a:off x="1527048" y="1993392"/>
            <a:ext cx="4114800" cy="50292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Limitaciones</a:t>
            </a:r>
            <a:endParaRPr lang="en-US" sz="2000" dirty="0"/>
          </a:p>
        </p:txBody>
      </p:sp>
      <p:sp>
        <p:nvSpPr>
          <p:cNvPr id="8" name="Text 5"/>
          <p:cNvSpPr/>
          <p:nvPr/>
        </p:nvSpPr>
        <p:spPr>
          <a:xfrm>
            <a:off x="978408" y="2743200"/>
            <a:ext cx="4663440" cy="28346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222222"/>
                </a:solidFill>
                <a:latin typeface="Calibri" pitchFamily="34" charset="0"/>
                <a:ea typeface="Calibri" pitchFamily="34" charset="-122"/>
                <a:cs typeface="Calibri" pitchFamily="34" charset="-120"/>
              </a:rPr>
              <a:t>Datos del censo de 1990: no reflejan el mercado actual.</a:t>
            </a:r>
            <a:endParaRPr lang="en-US" sz="1500" dirty="0"/>
          </a:p>
          <a:p>
            <a:pPr marL="342900" indent="-342900">
              <a:spcAft>
                <a:spcPts val="1200"/>
              </a:spcAft>
              <a:buSzPct val="100000"/>
              <a:buChar char="•"/>
            </a:pPr>
            <a:r>
              <a:rPr lang="en-US" sz="1500" dirty="0">
                <a:solidFill>
                  <a:srgbClr val="222222"/>
                </a:solidFill>
                <a:latin typeface="Calibri" pitchFamily="34" charset="0"/>
                <a:ea typeface="Calibri" pitchFamily="34" charset="-122"/>
                <a:cs typeface="Calibri" pitchFamily="34" charset="-120"/>
              </a:rPr>
              <a:t>Grupos de manzanas, no viviendas individuales.</a:t>
            </a:r>
            <a:endParaRPr lang="en-US" sz="1500" dirty="0"/>
          </a:p>
          <a:p>
            <a:pPr marL="342900" indent="-342900">
              <a:spcAft>
                <a:spcPts val="1200"/>
              </a:spcAft>
              <a:buSzPct val="100000"/>
              <a:buChar char="•"/>
            </a:pPr>
            <a:r>
              <a:rPr lang="en-US" sz="1500" dirty="0">
                <a:solidFill>
                  <a:srgbClr val="222222"/>
                </a:solidFill>
                <a:latin typeface="Calibri" pitchFamily="34" charset="0"/>
                <a:ea typeface="Calibri" pitchFamily="34" charset="-122"/>
                <a:cs typeface="Calibri" pitchFamily="34" charset="-120"/>
              </a:rPr>
              <a:t>Fuerte dependencia de la ubicación.</a:t>
            </a:r>
            <a:endParaRPr lang="en-US" sz="1500" dirty="0"/>
          </a:p>
        </p:txBody>
      </p:sp>
      <p:sp>
        <p:nvSpPr>
          <p:cNvPr id="9" name="Shape 6"/>
          <p:cNvSpPr/>
          <p:nvPr/>
        </p:nvSpPr>
        <p:spPr>
          <a:xfrm>
            <a:off x="6236208" y="1691640"/>
            <a:ext cx="5349240" cy="4023360"/>
          </a:xfrm>
          <a:prstGeom prst="roundRect">
            <a:avLst>
              <a:gd name="adj" fmla="val 2727"/>
            </a:avLst>
          </a:prstGeom>
          <a:solidFill>
            <a:srgbClr val="F4F6FA"/>
          </a:solidFill>
          <a:ln/>
        </p:spPr>
      </p:sp>
      <p:sp>
        <p:nvSpPr>
          <p:cNvPr id="10" name="Shape 7"/>
          <p:cNvSpPr/>
          <p:nvPr/>
        </p:nvSpPr>
        <p:spPr>
          <a:xfrm>
            <a:off x="6556248" y="2011680"/>
            <a:ext cx="457200" cy="457200"/>
          </a:xfrm>
          <a:prstGeom prst="roundRect">
            <a:avLst>
              <a:gd name="adj" fmla="val 50000"/>
            </a:avLst>
          </a:prstGeom>
          <a:solidFill>
            <a:srgbClr val="1E9E3A"/>
          </a:solidFill>
          <a:ln/>
        </p:spPr>
      </p:sp>
      <p:sp>
        <p:nvSpPr>
          <p:cNvPr id="11" name="Text 8"/>
          <p:cNvSpPr/>
          <p:nvPr/>
        </p:nvSpPr>
        <p:spPr>
          <a:xfrm>
            <a:off x="7196328" y="1993392"/>
            <a:ext cx="4114800" cy="50292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Mejoras futuras</a:t>
            </a:r>
            <a:endParaRPr lang="en-US" sz="2000" dirty="0"/>
          </a:p>
        </p:txBody>
      </p:sp>
      <p:sp>
        <p:nvSpPr>
          <p:cNvPr id="12" name="Text 9"/>
          <p:cNvSpPr/>
          <p:nvPr/>
        </p:nvSpPr>
        <p:spPr>
          <a:xfrm>
            <a:off x="6647688" y="2743200"/>
            <a:ext cx="4663440" cy="28346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222222"/>
                </a:solidFill>
                <a:latin typeface="Calibri" pitchFamily="34" charset="0"/>
                <a:ea typeface="Calibri" pitchFamily="34" charset="-122"/>
                <a:cs typeface="Calibri" pitchFamily="34" charset="-120"/>
              </a:rPr>
              <a:t>Datos actuales y desagregados.</a:t>
            </a:r>
            <a:endParaRPr lang="en-US" sz="1500" dirty="0"/>
          </a:p>
          <a:p>
            <a:pPr marL="342900" indent="-342900">
              <a:spcAft>
                <a:spcPts val="1200"/>
              </a:spcAft>
              <a:buSzPct val="100000"/>
              <a:buChar char="•"/>
            </a:pPr>
            <a:r>
              <a:rPr lang="en-US" sz="1500" dirty="0">
                <a:solidFill>
                  <a:srgbClr val="222222"/>
                </a:solidFill>
                <a:latin typeface="Calibri" pitchFamily="34" charset="0"/>
                <a:ea typeface="Calibri" pitchFamily="34" charset="-122"/>
                <a:cs typeface="Calibri" pitchFamily="34" charset="-120"/>
              </a:rPr>
              <a:t>Auditar la equidad de forma periódica.</a:t>
            </a:r>
            <a:endParaRPr lang="en-US" sz="1500" dirty="0"/>
          </a:p>
          <a:p>
            <a:pPr marL="342900" indent="-342900">
              <a:spcAft>
                <a:spcPts val="1200"/>
              </a:spcAft>
              <a:buSzPct val="100000"/>
              <a:buChar char="•"/>
            </a:pPr>
            <a:r>
              <a:rPr lang="en-US" sz="1500" dirty="0">
                <a:solidFill>
                  <a:srgbClr val="222222"/>
                </a:solidFill>
                <a:latin typeface="Calibri" pitchFamily="34" charset="0"/>
                <a:ea typeface="Calibri" pitchFamily="34" charset="-122"/>
                <a:cs typeface="Calibri" pitchFamily="34" charset="-120"/>
              </a:rPr>
              <a:t>Explicabilidad con SHAP.</a:t>
            </a:r>
            <a:endParaRPr lang="en-US" sz="1500" dirty="0"/>
          </a:p>
          <a:p>
            <a:pPr marL="342900" indent="-342900">
              <a:spcAft>
                <a:spcPts val="1200"/>
              </a:spcAft>
              <a:buSzPct val="100000"/>
              <a:buChar char="•"/>
            </a:pPr>
            <a:r>
              <a:rPr lang="en-US" sz="1500" dirty="0">
                <a:solidFill>
                  <a:srgbClr val="222222"/>
                </a:solidFill>
                <a:latin typeface="Calibri" pitchFamily="34" charset="0"/>
                <a:ea typeface="Calibri" pitchFamily="34" charset="-122"/>
                <a:cs typeface="Calibri" pitchFamily="34" charset="-120"/>
              </a:rPr>
              <a:t>Enfoques multimodales y mitigación de sesgos.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66928" y="457200"/>
            <a:ext cx="7315200" cy="365760"/>
          </a:xfrm>
          <a:prstGeom prst="rect">
            <a:avLst/>
          </a:prstGeom>
          <a:noFill/>
          <a:ln/>
        </p:spPr>
        <p:txBody>
          <a:bodyPr wrap="square" lIns="0" tIns="0" rIns="0" bIns="0" rtlCol="0" anchor="ctr"/>
          <a:lstStyle/>
          <a:p>
            <a:pPr indent="0" marL="0">
              <a:buNone/>
            </a:pPr>
            <a:r>
              <a:rPr lang="en-US" sz="1300" b="1" spc="200" kern="0" dirty="0">
                <a:solidFill>
                  <a:srgbClr val="E8830C"/>
                </a:solidFill>
                <a:latin typeface="Calibri" pitchFamily="34" charset="0"/>
                <a:ea typeface="Calibri" pitchFamily="34" charset="-122"/>
                <a:cs typeface="Calibri" pitchFamily="34" charset="-120"/>
              </a:rPr>
              <a:t>CONCLUSIONES</a:t>
            </a:r>
            <a:endParaRPr lang="en-US" sz="1300" dirty="0"/>
          </a:p>
        </p:txBody>
      </p:sp>
      <p:sp>
        <p:nvSpPr>
          <p:cNvPr id="3" name="Text 1"/>
          <p:cNvSpPr/>
          <p:nvPr/>
        </p:nvSpPr>
        <p:spPr>
          <a:xfrm>
            <a:off x="548640" y="777240"/>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Conclusiones</a:t>
            </a:r>
            <a:endParaRPr lang="en-US" sz="3400" dirty="0"/>
          </a:p>
        </p:txBody>
      </p:sp>
      <p:sp>
        <p:nvSpPr>
          <p:cNvPr id="4" name="Shape 2"/>
          <p:cNvSpPr/>
          <p:nvPr/>
        </p:nvSpPr>
        <p:spPr>
          <a:xfrm>
            <a:off x="566928" y="1874520"/>
            <a:ext cx="822960" cy="822960"/>
          </a:xfrm>
          <a:prstGeom prst="roundRect">
            <a:avLst>
              <a:gd name="adj" fmla="val 15556"/>
            </a:avLst>
          </a:prstGeom>
          <a:solidFill>
            <a:srgbClr val="1E9E3A"/>
          </a:solidFill>
          <a:ln/>
        </p:spPr>
      </p:sp>
      <p:sp>
        <p:nvSpPr>
          <p:cNvPr id="5" name="Text 3"/>
          <p:cNvSpPr/>
          <p:nvPr/>
        </p:nvSpPr>
        <p:spPr>
          <a:xfrm>
            <a:off x="566928" y="187452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6" name="Text 4"/>
          <p:cNvSpPr/>
          <p:nvPr/>
        </p:nvSpPr>
        <p:spPr>
          <a:xfrm>
            <a:off x="1600200" y="1828800"/>
            <a:ext cx="9875520" cy="9144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Funciona
</a:t>
            </a:r>
            <a:pPr indent="0" marL="0">
              <a:buNone/>
            </a:pPr>
            <a:r>
              <a:rPr lang="en-US" sz="1450" dirty="0">
                <a:solidFill>
                  <a:srgbClr val="CADCFC"/>
                </a:solidFill>
                <a:latin typeface="Calibri" pitchFamily="34" charset="0"/>
                <a:ea typeface="Calibri" pitchFamily="34" charset="-122"/>
                <a:cs typeface="Calibri" pitchFamily="34" charset="-120"/>
              </a:rPr>
              <a:t>La red densa predice el precio con R² = 0,821, superando a los modelos lineales.</a:t>
            </a:r>
            <a:endParaRPr lang="en-US" sz="2000" dirty="0"/>
          </a:p>
        </p:txBody>
      </p:sp>
      <p:sp>
        <p:nvSpPr>
          <p:cNvPr id="7" name="Shape 5"/>
          <p:cNvSpPr/>
          <p:nvPr/>
        </p:nvSpPr>
        <p:spPr>
          <a:xfrm>
            <a:off x="566928" y="3246120"/>
            <a:ext cx="822960" cy="822960"/>
          </a:xfrm>
          <a:prstGeom prst="roundRect">
            <a:avLst>
              <a:gd name="adj" fmla="val 15556"/>
            </a:avLst>
          </a:prstGeom>
          <a:solidFill>
            <a:srgbClr val="E8830C"/>
          </a:solidFill>
          <a:ln/>
        </p:spPr>
      </p:sp>
      <p:sp>
        <p:nvSpPr>
          <p:cNvPr id="8" name="Text 6"/>
          <p:cNvSpPr/>
          <p:nvPr/>
        </p:nvSpPr>
        <p:spPr>
          <a:xfrm>
            <a:off x="566928" y="324612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9" name="Text 7"/>
          <p:cNvSpPr/>
          <p:nvPr/>
        </p:nvSpPr>
        <p:spPr>
          <a:xfrm>
            <a:off x="1600200" y="3200400"/>
            <a:ext cx="9875520" cy="9144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Pero no basta el desempeño
</a:t>
            </a:r>
            <a:pPr indent="0" marL="0">
              <a:buNone/>
            </a:pPr>
            <a:r>
              <a:rPr lang="en-US" sz="1450" dirty="0">
                <a:solidFill>
                  <a:srgbClr val="CADCFC"/>
                </a:solidFill>
                <a:latin typeface="Calibri" pitchFamily="34" charset="0"/>
                <a:ea typeface="Calibri" pitchFamily="34" charset="-122"/>
                <a:cs typeface="Calibri" pitchFamily="34" charset="-120"/>
              </a:rPr>
              <a:t>Un buen resultado técnico debe acompañarse de una evaluación ética.</a:t>
            </a:r>
            <a:endParaRPr lang="en-US" sz="2000" dirty="0"/>
          </a:p>
        </p:txBody>
      </p:sp>
      <p:sp>
        <p:nvSpPr>
          <p:cNvPr id="10" name="Shape 8"/>
          <p:cNvSpPr/>
          <p:nvPr/>
        </p:nvSpPr>
        <p:spPr>
          <a:xfrm>
            <a:off x="566928" y="4617720"/>
            <a:ext cx="822960" cy="822960"/>
          </a:xfrm>
          <a:prstGeom prst="roundRect">
            <a:avLst>
              <a:gd name="adj" fmla="val 15556"/>
            </a:avLst>
          </a:prstGeom>
          <a:solidFill>
            <a:srgbClr val="6C7BB5"/>
          </a:solidFill>
          <a:ln/>
        </p:spPr>
      </p:sp>
      <p:sp>
        <p:nvSpPr>
          <p:cNvPr id="11" name="Text 9"/>
          <p:cNvSpPr/>
          <p:nvPr/>
        </p:nvSpPr>
        <p:spPr>
          <a:xfrm>
            <a:off x="566928" y="461772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12" name="Text 10"/>
          <p:cNvSpPr/>
          <p:nvPr/>
        </p:nvSpPr>
        <p:spPr>
          <a:xfrm>
            <a:off x="1600200" y="4572000"/>
            <a:ext cx="9875520" cy="9144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La ubicación es un arma de doble filo
</a:t>
            </a:r>
            <a:pPr indent="0" marL="0">
              <a:buNone/>
            </a:pPr>
            <a:r>
              <a:rPr lang="en-US" sz="1450" dirty="0">
                <a:solidFill>
                  <a:srgbClr val="CADCFC"/>
                </a:solidFill>
                <a:latin typeface="Calibri" pitchFamily="34" charset="0"/>
                <a:ea typeface="Calibri" pitchFamily="34" charset="-122"/>
                <a:cs typeface="Calibri" pitchFamily="34" charset="-120"/>
              </a:rPr>
              <a:t>Mejora la predicción, pero puede discriminar por barrio.</a:t>
            </a:r>
            <a:endParaRPr lang="en-US" sz="2000" dirty="0"/>
          </a:p>
        </p:txBody>
      </p:sp>
      <p:sp>
        <p:nvSpPr>
          <p:cNvPr id="13" name="Text 11"/>
          <p:cNvSpPr/>
          <p:nvPr/>
        </p:nvSpPr>
        <p:spPr>
          <a:xfrm>
            <a:off x="566928" y="5989320"/>
            <a:ext cx="11064240" cy="640080"/>
          </a:xfrm>
          <a:prstGeom prst="rect">
            <a:avLst/>
          </a:prstGeom>
          <a:noFill/>
          <a:ln/>
        </p:spPr>
        <p:txBody>
          <a:bodyPr wrap="square" lIns="0" tIns="0" rIns="0" bIns="0" rtlCol="0" anchor="ctr"/>
          <a:lstStyle/>
          <a:p>
            <a:pPr algn="ctr" indent="0" marL="0">
              <a:buNone/>
            </a:pPr>
            <a:r>
              <a:rPr lang="en-US" sz="1500" i="1" dirty="0">
                <a:solidFill>
                  <a:srgbClr val="E8830C"/>
                </a:solidFill>
                <a:latin typeface="Calibri" pitchFamily="34" charset="0"/>
                <a:ea typeface="Calibri" pitchFamily="34" charset="-122"/>
                <a:cs typeface="Calibri" pitchFamily="34" charset="-120"/>
              </a:rPr>
              <a:t>El aprendizaje profundo es poderoso para valorar inmuebles — con auditoría de equidad y transparencia como condición de un uso responsable.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pic>
        <p:nvPicPr>
          <p:cNvPr id="2" name="Image 0" descr="C:\Users\Carlos\Downloads\2. Test\prediccion-precios-vivienda\kfiguras\logo.png">    </p:cNvPr>
          <p:cNvPicPr>
            <a:picLocks noChangeAspect="1"/>
          </p:cNvPicPr>
          <p:nvPr/>
        </p:nvPicPr>
        <p:blipFill>
          <a:blip r:embed="rId1"/>
          <a:stretch>
            <a:fillRect/>
          </a:stretch>
        </p:blipFill>
        <p:spPr>
          <a:xfrm>
            <a:off x="5623560" y="1280160"/>
            <a:ext cx="914400" cy="914400"/>
          </a:xfrm>
          <a:prstGeom prst="rect">
            <a:avLst/>
          </a:prstGeom>
        </p:spPr>
      </p:pic>
      <p:sp>
        <p:nvSpPr>
          <p:cNvPr id="3" name="Text 0"/>
          <p:cNvSpPr/>
          <p:nvPr/>
        </p:nvSpPr>
        <p:spPr>
          <a:xfrm>
            <a:off x="457200" y="2468880"/>
            <a:ext cx="11247120" cy="91440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¡Gracias!</a:t>
            </a:r>
            <a:endParaRPr lang="en-US" sz="4800" dirty="0"/>
          </a:p>
        </p:txBody>
      </p:sp>
      <p:sp>
        <p:nvSpPr>
          <p:cNvPr id="4" name="Text 1"/>
          <p:cNvSpPr/>
          <p:nvPr/>
        </p:nvSpPr>
        <p:spPr>
          <a:xfrm>
            <a:off x="457200" y="3474720"/>
            <a:ext cx="11247120" cy="548640"/>
          </a:xfrm>
          <a:prstGeom prst="rect">
            <a:avLst/>
          </a:prstGeom>
          <a:noFill/>
          <a:ln/>
        </p:spPr>
        <p:txBody>
          <a:bodyPr wrap="square" rtlCol="0" anchor="ctr"/>
          <a:lstStyle/>
          <a:p>
            <a:pPr algn="ctr" indent="0" marL="0">
              <a:buNone/>
            </a:pPr>
            <a:r>
              <a:rPr lang="en-US" sz="2000" i="1" dirty="0">
                <a:solidFill>
                  <a:srgbClr val="E8830C"/>
                </a:solidFill>
                <a:latin typeface="Calibri" pitchFamily="34" charset="0"/>
                <a:ea typeface="Calibri" pitchFamily="34" charset="-122"/>
                <a:cs typeface="Calibri" pitchFamily="34" charset="-120"/>
              </a:rPr>
              <a:t>¿Preguntas?</a:t>
            </a:r>
            <a:endParaRPr lang="en-US" sz="2000" dirty="0"/>
          </a:p>
        </p:txBody>
      </p:sp>
      <p:sp>
        <p:nvSpPr>
          <p:cNvPr id="5" name="Text 2"/>
          <p:cNvSpPr/>
          <p:nvPr/>
        </p:nvSpPr>
        <p:spPr>
          <a:xfrm>
            <a:off x="457200" y="4754880"/>
            <a:ext cx="11247120" cy="365760"/>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Ing. Carlos Carrascal · Inteligencia Artificial · Universidad Tecnológica del Oriente</a:t>
            </a:r>
            <a:endParaRPr lang="en-US" sz="1300" dirty="0"/>
          </a:p>
        </p:txBody>
      </p:sp>
      <p:sp>
        <p:nvSpPr>
          <p:cNvPr id="6" name="Text 3"/>
          <p:cNvSpPr/>
          <p:nvPr/>
        </p:nvSpPr>
        <p:spPr>
          <a:xfrm>
            <a:off x="457200" y="5212080"/>
            <a:ext cx="11247120" cy="365760"/>
          </a:xfrm>
          <a:prstGeom prst="rect">
            <a:avLst/>
          </a:prstGeom>
          <a:noFill/>
          <a:ln/>
        </p:spPr>
        <p:txBody>
          <a:bodyPr wrap="square" rtlCol="0" anchor="ctr"/>
          <a:lstStyle/>
          <a:p>
            <a:pPr algn="ctr" indent="0" marL="0">
              <a:buNone/>
            </a:pPr>
            <a:r>
              <a:rPr lang="en-US" sz="1200" i="1" dirty="0">
                <a:solidFill>
                  <a:srgbClr val="8894C0"/>
                </a:solidFill>
                <a:latin typeface="Calibri" pitchFamily="34" charset="0"/>
                <a:ea typeface="Calibri" pitchFamily="34" charset="-122"/>
                <a:cs typeface="Calibri" pitchFamily="34" charset="-120"/>
              </a:rPr>
              <a:t>Las 10 referencias (2021–2026) están detalladas en el informe escrito.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2026-07-18T16:45:15Z</dcterms:created>
  <dcterms:modified xsi:type="dcterms:W3CDTF">2026-07-18T16:45:15Z</dcterms:modified>
</cp:coreProperties>
</file>